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0" r:id="rId1"/>
  </p:sldMasterIdLst>
  <p:notesMasterIdLst>
    <p:notesMasterId r:id="rId27"/>
  </p:notesMasterIdLst>
  <p:sldIdLst>
    <p:sldId id="256" r:id="rId2"/>
    <p:sldId id="265" r:id="rId3"/>
    <p:sldId id="266" r:id="rId4"/>
    <p:sldId id="267" r:id="rId5"/>
    <p:sldId id="269" r:id="rId6"/>
    <p:sldId id="268" r:id="rId7"/>
    <p:sldId id="271" r:id="rId8"/>
    <p:sldId id="260" r:id="rId9"/>
    <p:sldId id="261" r:id="rId10"/>
    <p:sldId id="275" r:id="rId11"/>
    <p:sldId id="274" r:id="rId12"/>
    <p:sldId id="276" r:id="rId13"/>
    <p:sldId id="277" r:id="rId14"/>
    <p:sldId id="279" r:id="rId15"/>
    <p:sldId id="280" r:id="rId16"/>
    <p:sldId id="282" r:id="rId17"/>
    <p:sldId id="281" r:id="rId18"/>
    <p:sldId id="283" r:id="rId19"/>
    <p:sldId id="284" r:id="rId20"/>
    <p:sldId id="285" r:id="rId21"/>
    <p:sldId id="286" r:id="rId22"/>
    <p:sldId id="264" r:id="rId23"/>
    <p:sldId id="289" r:id="rId24"/>
    <p:sldId id="290" r:id="rId25"/>
    <p:sldId id="28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Эля Ахметова" initials="ЭА" lastIdx="1" clrIdx="0">
    <p:extLst>
      <p:ext uri="{19B8F6BF-5375-455C-9EA6-DF929625EA0E}">
        <p15:presenceInfo xmlns:p15="http://schemas.microsoft.com/office/powerpoint/2012/main" userId="12f8543c4a5474f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7CE2D-A7B0-475A-A5D6-970EC3A786A8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A89F7-B92F-48E2-B420-2B1BE318EE8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58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269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3019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7104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62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1740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940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71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1004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355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8683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8799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603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87923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6715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3379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0199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06171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3132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4456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996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882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0A89F7-B92F-48E2-B420-2B1BE318EE8B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30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4D79CDC-7481-4905-B89D-BAC893F0865C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44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3514D-1245-4E5C-B6D4-9B8552181E0F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85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23C28-9F1E-4CB0-99B8-90A1A1A459F1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1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FFE7D-C938-4E28-99F3-06FA598F2CE2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638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EAD02-81FD-476A-A934-39D412F6A534}" type="datetime1">
              <a:rPr lang="ru-RU" smtClean="0"/>
              <a:t>16.01.2026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882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77FD-3CDF-47B5-AF1A-B57779CA5927}" type="datetime1">
              <a:rPr lang="ru-RU" smtClean="0"/>
              <a:t>16.01.2026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9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15798-E941-4EE2-8787-B5189EEAAF58}" type="datetime1">
              <a:rPr lang="ru-RU" smtClean="0"/>
              <a:t>16.01.2026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2451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6713-29C0-4399-A3E4-EA7F0F9B78B1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677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3EFFD-468F-42E7-B3C0-333211D20C9A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83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9F8-DBFD-4AFF-AAE6-818567FEF22B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0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2395-D087-4CA9-A95A-0C6F05552BB6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539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035F01D-5557-4729-89DC-FC9FCEFE2C80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45998D0-A30C-4A17-A4B4-A9CB73FC8A8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70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 Введение в программирование. 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B0B74BF-12D0-49B1-891E-E03AAA4A4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202" y="3946411"/>
            <a:ext cx="2454387" cy="24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049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Как компьютеры «понимают» нас?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66CF8595-7759-41BA-99B1-8B2BF3324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ru-RU" sz="2400" b="1" dirty="0"/>
              <a:t>Компьютер</a:t>
            </a:r>
            <a:r>
              <a:rPr lang="ru-RU" sz="2400" dirty="0"/>
              <a:t> как и любая другая </a:t>
            </a:r>
            <a:r>
              <a:rPr lang="ru-RU" sz="2400" b="1" dirty="0"/>
              <a:t>ЭВМ</a:t>
            </a:r>
            <a:r>
              <a:rPr lang="ru-RU" sz="2400" dirty="0"/>
              <a:t> (электронно-вычислительная машина) работает по заранее заданному набору </a:t>
            </a:r>
            <a:r>
              <a:rPr lang="ru-RU" sz="2400" b="1" dirty="0"/>
              <a:t>инструкций</a:t>
            </a:r>
            <a:r>
              <a:rPr lang="ru-RU" sz="2400" dirty="0"/>
              <a:t> — шагов, которые устройство выполняет в строгом порядке.</a:t>
            </a:r>
            <a:br>
              <a:rPr lang="ru-RU" sz="2400" dirty="0"/>
            </a:br>
            <a:r>
              <a:rPr lang="ru-RU" sz="2400" dirty="0"/>
              <a:t>Например:</a:t>
            </a:r>
          </a:p>
          <a:p>
            <a:pPr marL="45720" indent="0">
              <a:buNone/>
            </a:pPr>
            <a:r>
              <a:rPr lang="ru-RU" sz="2400" dirty="0"/>
              <a:t>1. СОЗДАТЬ новый белый лист.</a:t>
            </a:r>
          </a:p>
          <a:p>
            <a:pPr marL="45720" indent="0">
              <a:buNone/>
            </a:pPr>
            <a:r>
              <a:rPr lang="ru-RU" sz="2400" dirty="0"/>
              <a:t>2. ВЗЯТЬ красный карандаш.</a:t>
            </a:r>
          </a:p>
          <a:p>
            <a:pPr marL="45720" indent="0">
              <a:buNone/>
            </a:pPr>
            <a:r>
              <a:rPr lang="ru-RU" sz="2400" dirty="0"/>
              <a:t>3. ОПУСТИТЬ карандаш в точку (10, 10).</a:t>
            </a:r>
          </a:p>
          <a:p>
            <a:pPr marL="45720" indent="0">
              <a:buNone/>
            </a:pPr>
            <a:r>
              <a:rPr lang="ru-RU" sz="2400" dirty="0"/>
              <a:t>4. ПРОВЕСТИ линию ВПРАВО на 100 шагов.</a:t>
            </a:r>
          </a:p>
          <a:p>
            <a:pPr marL="45720" indent="0">
              <a:buNone/>
            </a:pPr>
            <a:r>
              <a:rPr lang="ru-RU" sz="2400" dirty="0"/>
              <a:t>5. ПРОВЕСТИ линию ВНИЗ на 100 шагов.</a:t>
            </a:r>
          </a:p>
          <a:p>
            <a:pPr marL="45720" indent="0">
              <a:buNone/>
            </a:pPr>
            <a:r>
              <a:rPr lang="ru-RU" sz="2400" dirty="0"/>
              <a:t>6. ПРОВЕСТИ линию ВЛЕВО на 100 шагов.</a:t>
            </a:r>
          </a:p>
          <a:p>
            <a:pPr marL="45720" indent="0">
              <a:buNone/>
            </a:pPr>
            <a:r>
              <a:rPr lang="ru-RU" sz="2400" dirty="0"/>
              <a:t>7. ПРОВЕСТИ линию ВВЕРХ на 100 шагов.</a:t>
            </a:r>
          </a:p>
          <a:p>
            <a:pPr marL="45720" indent="0">
              <a:buNone/>
            </a:pPr>
            <a:r>
              <a:rPr lang="ru-RU" sz="2400" dirty="0"/>
              <a:t>8. ПОДНЯТЬ карандаш.</a:t>
            </a:r>
          </a:p>
          <a:p>
            <a:pPr marL="45720" indent="0">
              <a:buNone/>
            </a:pPr>
            <a:r>
              <a:rPr lang="ru-RU" sz="2400" dirty="0"/>
              <a:t>9. СООБЩИТЬ: "Квадрат готов!"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</a:t>
            </a:fld>
            <a:endParaRPr lang="ru-RU" sz="20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BF28B3B-04A8-491B-A970-2EB39A3A5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3035" y="3472120"/>
            <a:ext cx="3080445" cy="308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69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Как компьютеры «понимают» нас?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3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C29AEB-6005-4B4F-8435-851D15914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7" y="2628551"/>
            <a:ext cx="1593113" cy="159311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7C8BD3-BFF3-43F7-8E3A-CF323AB3E1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224" t="17349" r="16883" b="17958"/>
          <a:stretch/>
        </p:blipFill>
        <p:spPr>
          <a:xfrm>
            <a:off x="2817013" y="2810172"/>
            <a:ext cx="1251484" cy="1237655"/>
          </a:xfrm>
          <a:prstGeom prst="rect">
            <a:avLst/>
          </a:prstGeom>
        </p:spPr>
      </p:pic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4E559BDF-559A-4B09-954F-9DA5D01F0611}"/>
              </a:ext>
            </a:extLst>
          </p:cNvPr>
          <p:cNvSpPr/>
          <p:nvPr/>
        </p:nvSpPr>
        <p:spPr>
          <a:xfrm>
            <a:off x="1692519" y="3315311"/>
            <a:ext cx="1036632" cy="252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91FC313-A019-44D4-AEB0-84112010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242" y="2536930"/>
            <a:ext cx="1593113" cy="159311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75BAE08-DB20-4AE3-AB95-386DAD1F76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224" t="17349" r="16883" b="17958"/>
          <a:stretch/>
        </p:blipFill>
        <p:spPr>
          <a:xfrm>
            <a:off x="8240087" y="2727984"/>
            <a:ext cx="1334619" cy="1319871"/>
          </a:xfrm>
          <a:prstGeom prst="rect">
            <a:avLst/>
          </a:prstGeom>
        </p:spPr>
      </p:pic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6EEB7EA3-8499-4C5E-B33A-CB249AAB496E}"/>
              </a:ext>
            </a:extLst>
          </p:cNvPr>
          <p:cNvSpPr/>
          <p:nvPr/>
        </p:nvSpPr>
        <p:spPr>
          <a:xfrm>
            <a:off x="9601200" y="3261675"/>
            <a:ext cx="991210" cy="252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0BCC4764-30B0-45CE-9D23-58AC2100591A}"/>
              </a:ext>
            </a:extLst>
          </p:cNvPr>
          <p:cNvSpPr/>
          <p:nvPr/>
        </p:nvSpPr>
        <p:spPr>
          <a:xfrm>
            <a:off x="4124091" y="3289006"/>
            <a:ext cx="991210" cy="252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Стрелка: вправо 22">
            <a:extLst>
              <a:ext uri="{FF2B5EF4-FFF2-40B4-BE49-F238E27FC236}">
                <a16:creationId xmlns:a16="http://schemas.microsoft.com/office/drawing/2014/main" id="{2F65DC85-9926-4160-9014-C2F63E36D5BE}"/>
              </a:ext>
            </a:extLst>
          </p:cNvPr>
          <p:cNvSpPr/>
          <p:nvPr/>
        </p:nvSpPr>
        <p:spPr>
          <a:xfrm>
            <a:off x="7212331" y="3298862"/>
            <a:ext cx="991210" cy="252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BF28B3B-04A8-491B-A970-2EB39A3A5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494" y="2266639"/>
            <a:ext cx="2097343" cy="209734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D7AAEAE-3CD1-45B7-ABA8-89220516C619}"/>
              </a:ext>
            </a:extLst>
          </p:cNvPr>
          <p:cNvSpPr txBox="1"/>
          <p:nvPr/>
        </p:nvSpPr>
        <p:spPr>
          <a:xfrm>
            <a:off x="1096983" y="1553690"/>
            <a:ext cx="23567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Код на языке </a:t>
            </a:r>
          </a:p>
          <a:p>
            <a:pPr algn="ctr"/>
            <a:r>
              <a:rPr lang="ru-RU" sz="2000" dirty="0"/>
              <a:t>программирования</a:t>
            </a:r>
          </a:p>
        </p:txBody>
      </p:sp>
      <p:sp>
        <p:nvSpPr>
          <p:cNvPr id="26" name="Стрелка: вправо 25">
            <a:extLst>
              <a:ext uri="{FF2B5EF4-FFF2-40B4-BE49-F238E27FC236}">
                <a16:creationId xmlns:a16="http://schemas.microsoft.com/office/drawing/2014/main" id="{378C7AA5-2325-4179-9B27-F65E645A14BC}"/>
              </a:ext>
            </a:extLst>
          </p:cNvPr>
          <p:cNvSpPr/>
          <p:nvPr/>
        </p:nvSpPr>
        <p:spPr>
          <a:xfrm rot="5400000">
            <a:off x="1652981" y="2740355"/>
            <a:ext cx="1036632" cy="79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9E2578-C4E7-48C2-A75B-506561CEFB60}"/>
              </a:ext>
            </a:extLst>
          </p:cNvPr>
          <p:cNvSpPr txBox="1"/>
          <p:nvPr/>
        </p:nvSpPr>
        <p:spPr>
          <a:xfrm>
            <a:off x="9204231" y="1191454"/>
            <a:ext cx="16298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Результат выполнения программы</a:t>
            </a:r>
          </a:p>
        </p:txBody>
      </p:sp>
      <p:sp>
        <p:nvSpPr>
          <p:cNvPr id="28" name="Стрелка: вправо 27">
            <a:extLst>
              <a:ext uri="{FF2B5EF4-FFF2-40B4-BE49-F238E27FC236}">
                <a16:creationId xmlns:a16="http://schemas.microsoft.com/office/drawing/2014/main" id="{36A5BE83-24B7-44CC-BB63-8CB29A5DDAFF}"/>
              </a:ext>
            </a:extLst>
          </p:cNvPr>
          <p:cNvSpPr/>
          <p:nvPr/>
        </p:nvSpPr>
        <p:spPr>
          <a:xfrm rot="5400000">
            <a:off x="9540392" y="2716775"/>
            <a:ext cx="1036632" cy="79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66695F-B13F-4E5B-BF63-C6120CC1C2BC}"/>
              </a:ext>
            </a:extLst>
          </p:cNvPr>
          <p:cNvSpPr txBox="1"/>
          <p:nvPr/>
        </p:nvSpPr>
        <p:spPr>
          <a:xfrm>
            <a:off x="3786440" y="1516170"/>
            <a:ext cx="1870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Машинный код</a:t>
            </a:r>
          </a:p>
        </p:txBody>
      </p:sp>
      <p:sp>
        <p:nvSpPr>
          <p:cNvPr id="30" name="Стрелка: вправо 29">
            <a:extLst>
              <a:ext uri="{FF2B5EF4-FFF2-40B4-BE49-F238E27FC236}">
                <a16:creationId xmlns:a16="http://schemas.microsoft.com/office/drawing/2014/main" id="{B15C6839-D034-4478-8855-2174CDA88106}"/>
              </a:ext>
            </a:extLst>
          </p:cNvPr>
          <p:cNvSpPr/>
          <p:nvPr/>
        </p:nvSpPr>
        <p:spPr>
          <a:xfrm rot="5400000">
            <a:off x="4099229" y="2702835"/>
            <a:ext cx="1036632" cy="79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38F932-19CC-4162-A296-126F3A6612BF}"/>
              </a:ext>
            </a:extLst>
          </p:cNvPr>
          <p:cNvSpPr txBox="1"/>
          <p:nvPr/>
        </p:nvSpPr>
        <p:spPr>
          <a:xfrm>
            <a:off x="6812714" y="1530110"/>
            <a:ext cx="1870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Машинный код</a:t>
            </a:r>
          </a:p>
        </p:txBody>
      </p:sp>
      <p:sp>
        <p:nvSpPr>
          <p:cNvPr id="32" name="Стрелка: вправо 31">
            <a:extLst>
              <a:ext uri="{FF2B5EF4-FFF2-40B4-BE49-F238E27FC236}">
                <a16:creationId xmlns:a16="http://schemas.microsoft.com/office/drawing/2014/main" id="{FE9982CB-CDE5-4787-89D4-450B0968CF4D}"/>
              </a:ext>
            </a:extLst>
          </p:cNvPr>
          <p:cNvSpPr/>
          <p:nvPr/>
        </p:nvSpPr>
        <p:spPr>
          <a:xfrm rot="5400000">
            <a:off x="7125503" y="2716775"/>
            <a:ext cx="1036632" cy="79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4787AE-B1C0-49FF-81A0-04B88D20F942}"/>
              </a:ext>
            </a:extLst>
          </p:cNvPr>
          <p:cNvSpPr txBox="1"/>
          <p:nvPr/>
        </p:nvSpPr>
        <p:spPr>
          <a:xfrm>
            <a:off x="257981" y="4188529"/>
            <a:ext cx="1686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Программист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0BA8D5-E151-46B8-985E-4F3F7BA1C11D}"/>
              </a:ext>
            </a:extLst>
          </p:cNvPr>
          <p:cNvSpPr txBox="1"/>
          <p:nvPr/>
        </p:nvSpPr>
        <p:spPr>
          <a:xfrm>
            <a:off x="10329670" y="4070731"/>
            <a:ext cx="1686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Программист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6AD39B-356C-4467-B8FD-FD6E3C7A87C2}"/>
              </a:ext>
            </a:extLst>
          </p:cNvPr>
          <p:cNvSpPr txBox="1"/>
          <p:nvPr/>
        </p:nvSpPr>
        <p:spPr>
          <a:xfrm>
            <a:off x="2457678" y="4163927"/>
            <a:ext cx="19163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Компилятор</a:t>
            </a:r>
          </a:p>
          <a:p>
            <a:pPr algn="ctr"/>
            <a:r>
              <a:rPr lang="ru-RU" sz="2000" dirty="0"/>
              <a:t>или </a:t>
            </a:r>
          </a:p>
          <a:p>
            <a:pPr algn="ctr"/>
            <a:r>
              <a:rPr lang="ru-RU" sz="2000" dirty="0"/>
              <a:t>Интерпретатор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C26D21-CF2C-40B7-8D12-E39F10384181}"/>
              </a:ext>
            </a:extLst>
          </p:cNvPr>
          <p:cNvSpPr txBox="1"/>
          <p:nvPr/>
        </p:nvSpPr>
        <p:spPr>
          <a:xfrm>
            <a:off x="7949217" y="4163926"/>
            <a:ext cx="19163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Компилятор</a:t>
            </a:r>
          </a:p>
          <a:p>
            <a:pPr algn="ctr"/>
            <a:r>
              <a:rPr lang="ru-RU" sz="2000" dirty="0"/>
              <a:t>или </a:t>
            </a:r>
          </a:p>
          <a:p>
            <a:pPr algn="ctr"/>
            <a:r>
              <a:rPr lang="ru-RU" sz="2000" dirty="0"/>
              <a:t>Интерпретатор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640A98-AE2C-427F-9F2E-C918E8CB636C}"/>
              </a:ext>
            </a:extLst>
          </p:cNvPr>
          <p:cNvSpPr txBox="1"/>
          <p:nvPr/>
        </p:nvSpPr>
        <p:spPr>
          <a:xfrm>
            <a:off x="4721600" y="4221664"/>
            <a:ext cx="26441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ЭВМ</a:t>
            </a:r>
          </a:p>
          <a:p>
            <a:pPr algn="ctr"/>
            <a:r>
              <a:rPr lang="ru-RU" sz="2000" dirty="0"/>
              <a:t>(электронно-вычислительная машина)</a:t>
            </a:r>
          </a:p>
          <a:p>
            <a:pPr algn="ctr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86288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 fontScale="90000"/>
          </a:bodyPr>
          <a:lstStyle/>
          <a:p>
            <a:r>
              <a:rPr lang="ru-RU" dirty="0"/>
              <a:t>Машинный код – язык, понятный компьютеру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1A0BCC0E-0F68-4D95-BDDF-FE4744D4C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64429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Компьютеры «разговаривают» на языке </a:t>
            </a:r>
            <a:r>
              <a:rPr lang="ru-RU" sz="2400" b="1" dirty="0"/>
              <a:t>машинного кода</a:t>
            </a:r>
            <a:r>
              <a:rPr lang="ru-RU" sz="2400" dirty="0"/>
              <a:t>. Это набор инструкций, закодированных в виде чисел, которые понимает процессор. Машинный код пишется в двоичном формате, состоящем из нулей и единиц.</a:t>
            </a:r>
          </a:p>
          <a:p>
            <a:pPr marL="45720" indent="0">
              <a:buNone/>
            </a:pPr>
            <a:r>
              <a:rPr lang="ru-RU" sz="2400" dirty="0"/>
              <a:t>Пример машинного кода:</a:t>
            </a:r>
          </a:p>
          <a:p>
            <a:pPr marL="45720" indent="0">
              <a:buNone/>
            </a:pPr>
            <a:r>
              <a:rPr lang="ru-RU" sz="2400" b="1" dirty="0"/>
              <a:t>10101100 00001111 11001010 00000001</a:t>
            </a: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Однако машинный код и двоичный код — это не одно и то же. </a:t>
            </a:r>
          </a:p>
          <a:p>
            <a:pPr marL="45720" indent="0">
              <a:buNone/>
            </a:pPr>
            <a:r>
              <a:rPr lang="ru-RU" sz="2400" b="1" dirty="0"/>
              <a:t>Двоичный код </a:t>
            </a:r>
            <a:r>
              <a:rPr lang="ru-RU" sz="2400" dirty="0"/>
              <a:t>— это всего лишь система счисления, представляющая информацию (текст, числа, команды) в виде 0 и 1. А </a:t>
            </a:r>
            <a:r>
              <a:rPr lang="ru-RU" sz="2400" b="1" dirty="0"/>
              <a:t>машинный код </a:t>
            </a:r>
            <a:r>
              <a:rPr lang="ru-RU" sz="2400" dirty="0"/>
              <a:t>— это конкретные команды, которые выполняет процессор, записанные в двоичной форме.</a:t>
            </a:r>
          </a:p>
          <a:p>
            <a:pPr marL="45720" indent="0">
              <a:buNone/>
            </a:pPr>
            <a:r>
              <a:rPr lang="ru-RU" sz="2400" dirty="0"/>
              <a:t>Проблема в том, что писать и понимать такой код сложно. Поэтому придумали языки программирования.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4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652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49" y="556448"/>
            <a:ext cx="11214845" cy="734472"/>
          </a:xfrm>
        </p:spPr>
        <p:txBody>
          <a:bodyPr>
            <a:normAutofit fontScale="90000"/>
          </a:bodyPr>
          <a:lstStyle/>
          <a:p>
            <a:r>
              <a:rPr lang="ru-RU" dirty="0"/>
              <a:t>Языки программирования – посредник между человеком и машиной</a:t>
            </a:r>
          </a:p>
        </p:txBody>
      </p:sp>
      <p:sp>
        <p:nvSpPr>
          <p:cNvPr id="38" name="Объект 2">
            <a:extLst>
              <a:ext uri="{FF2B5EF4-FFF2-40B4-BE49-F238E27FC236}">
                <a16:creationId xmlns:a16="http://schemas.microsoft.com/office/drawing/2014/main" id="{1A0BCC0E-0F68-4D95-BDDF-FE4744D4C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595718"/>
            <a:ext cx="11214847" cy="4839956"/>
          </a:xfrm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ru-RU" sz="2400" dirty="0"/>
              <a:t>Языки программирования позволяют писать команды в привычной для человека форме, а затем специальные программы (компиляторы и интерпретаторы) переводят их в машинный код.</a:t>
            </a:r>
          </a:p>
          <a:p>
            <a:pPr marL="45720" indent="0">
              <a:buNone/>
            </a:pPr>
            <a:r>
              <a:rPr lang="ru-RU" sz="2400" dirty="0"/>
              <a:t>Например, вместо машинного кода мы можем написать на языке Python:</a:t>
            </a:r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Языки программирования можно сравнить с переводчиком:</a:t>
            </a:r>
          </a:p>
          <a:p>
            <a:r>
              <a:rPr lang="ru-RU" sz="2400" dirty="0"/>
              <a:t>Мы говорим на человеческом языке (Python, Java, C++).</a:t>
            </a:r>
          </a:p>
          <a:p>
            <a:r>
              <a:rPr lang="ru-RU" sz="2400" dirty="0"/>
              <a:t>Программа-переводчик (компилятор или интерпретатор) преобразует этот код в машинные команды.</a:t>
            </a:r>
          </a:p>
          <a:p>
            <a:r>
              <a:rPr lang="ru-RU" sz="2400" dirty="0"/>
              <a:t>Компьютер выполняет эти команды и выдаёт результат.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5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CE1FF0-AAD6-465E-BD16-BE939B851C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224" t="17349" r="16883" b="17958"/>
          <a:stretch/>
        </p:blipFill>
        <p:spPr>
          <a:xfrm>
            <a:off x="10451582" y="4941340"/>
            <a:ext cx="1334619" cy="13198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B77923-C0A5-4A82-A626-9E7E1976CA7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1409" b="19695"/>
          <a:stretch/>
        </p:blipFill>
        <p:spPr>
          <a:xfrm>
            <a:off x="623046" y="3195918"/>
            <a:ext cx="5639850" cy="64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41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6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C29AEB-6005-4B4F-8435-851D15914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7" y="2628551"/>
            <a:ext cx="1593113" cy="159311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7C8BD3-BFF3-43F7-8E3A-CF323AB3E1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224" t="17349" r="16883" b="17958"/>
          <a:stretch/>
        </p:blipFill>
        <p:spPr>
          <a:xfrm>
            <a:off x="2817013" y="2810172"/>
            <a:ext cx="1251484" cy="1237655"/>
          </a:xfrm>
          <a:prstGeom prst="rect">
            <a:avLst/>
          </a:prstGeom>
        </p:spPr>
      </p:pic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4E559BDF-559A-4B09-954F-9DA5D01F0611}"/>
              </a:ext>
            </a:extLst>
          </p:cNvPr>
          <p:cNvSpPr/>
          <p:nvPr/>
        </p:nvSpPr>
        <p:spPr>
          <a:xfrm>
            <a:off x="1692519" y="3315311"/>
            <a:ext cx="1036632" cy="252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91FC313-A019-44D4-AEB0-84112010E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1242" y="2536930"/>
            <a:ext cx="1593113" cy="159311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75BAE08-DB20-4AE3-AB95-386DAD1F76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224" t="17349" r="16883" b="17958"/>
          <a:stretch/>
        </p:blipFill>
        <p:spPr>
          <a:xfrm>
            <a:off x="8240087" y="2727984"/>
            <a:ext cx="1334619" cy="1319871"/>
          </a:xfrm>
          <a:prstGeom prst="rect">
            <a:avLst/>
          </a:prstGeom>
        </p:spPr>
      </p:pic>
      <p:sp>
        <p:nvSpPr>
          <p:cNvPr id="21" name="Стрелка: вправо 20">
            <a:extLst>
              <a:ext uri="{FF2B5EF4-FFF2-40B4-BE49-F238E27FC236}">
                <a16:creationId xmlns:a16="http://schemas.microsoft.com/office/drawing/2014/main" id="{6EEB7EA3-8499-4C5E-B33A-CB249AAB496E}"/>
              </a:ext>
            </a:extLst>
          </p:cNvPr>
          <p:cNvSpPr/>
          <p:nvPr/>
        </p:nvSpPr>
        <p:spPr>
          <a:xfrm>
            <a:off x="9601200" y="3261675"/>
            <a:ext cx="991210" cy="252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22" name="Стрелка: вправо 21">
            <a:extLst>
              <a:ext uri="{FF2B5EF4-FFF2-40B4-BE49-F238E27FC236}">
                <a16:creationId xmlns:a16="http://schemas.microsoft.com/office/drawing/2014/main" id="{0BCC4764-30B0-45CE-9D23-58AC2100591A}"/>
              </a:ext>
            </a:extLst>
          </p:cNvPr>
          <p:cNvSpPr/>
          <p:nvPr/>
        </p:nvSpPr>
        <p:spPr>
          <a:xfrm>
            <a:off x="4124091" y="3289006"/>
            <a:ext cx="991210" cy="252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Стрелка: вправо 22">
            <a:extLst>
              <a:ext uri="{FF2B5EF4-FFF2-40B4-BE49-F238E27FC236}">
                <a16:creationId xmlns:a16="http://schemas.microsoft.com/office/drawing/2014/main" id="{2F65DC85-9926-4160-9014-C2F63E36D5BE}"/>
              </a:ext>
            </a:extLst>
          </p:cNvPr>
          <p:cNvSpPr/>
          <p:nvPr/>
        </p:nvSpPr>
        <p:spPr>
          <a:xfrm>
            <a:off x="7212331" y="3298862"/>
            <a:ext cx="991210" cy="2524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BF28B3B-04A8-491B-A970-2EB39A3A5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8494" y="2266639"/>
            <a:ext cx="2097343" cy="209734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D7AAEAE-3CD1-45B7-ABA8-89220516C619}"/>
              </a:ext>
            </a:extLst>
          </p:cNvPr>
          <p:cNvSpPr txBox="1"/>
          <p:nvPr/>
        </p:nvSpPr>
        <p:spPr>
          <a:xfrm>
            <a:off x="1049277" y="1553690"/>
            <a:ext cx="2452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print("</a:t>
            </a:r>
            <a:r>
              <a:rPr lang="ru-RU" sz="2000" dirty="0"/>
              <a:t>Привет, мир!")</a:t>
            </a:r>
          </a:p>
        </p:txBody>
      </p:sp>
      <p:sp>
        <p:nvSpPr>
          <p:cNvPr id="26" name="Стрелка: вправо 25">
            <a:extLst>
              <a:ext uri="{FF2B5EF4-FFF2-40B4-BE49-F238E27FC236}">
                <a16:creationId xmlns:a16="http://schemas.microsoft.com/office/drawing/2014/main" id="{378C7AA5-2325-4179-9B27-F65E645A14BC}"/>
              </a:ext>
            </a:extLst>
          </p:cNvPr>
          <p:cNvSpPr/>
          <p:nvPr/>
        </p:nvSpPr>
        <p:spPr>
          <a:xfrm rot="5400000">
            <a:off x="1652981" y="2740355"/>
            <a:ext cx="1036632" cy="79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9E2578-C4E7-48C2-A75B-506561CEFB60}"/>
              </a:ext>
            </a:extLst>
          </p:cNvPr>
          <p:cNvSpPr txBox="1"/>
          <p:nvPr/>
        </p:nvSpPr>
        <p:spPr>
          <a:xfrm>
            <a:off x="9243769" y="1682441"/>
            <a:ext cx="1629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Привет мир</a:t>
            </a:r>
          </a:p>
        </p:txBody>
      </p:sp>
      <p:sp>
        <p:nvSpPr>
          <p:cNvPr id="28" name="Стрелка: вправо 27">
            <a:extLst>
              <a:ext uri="{FF2B5EF4-FFF2-40B4-BE49-F238E27FC236}">
                <a16:creationId xmlns:a16="http://schemas.microsoft.com/office/drawing/2014/main" id="{36A5BE83-24B7-44CC-BB63-8CB29A5DDAFF}"/>
              </a:ext>
            </a:extLst>
          </p:cNvPr>
          <p:cNvSpPr/>
          <p:nvPr/>
        </p:nvSpPr>
        <p:spPr>
          <a:xfrm rot="5400000">
            <a:off x="9540392" y="2716775"/>
            <a:ext cx="1036632" cy="79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66695F-B13F-4E5B-BF63-C6120CC1C2BC}"/>
              </a:ext>
            </a:extLst>
          </p:cNvPr>
          <p:cNvSpPr txBox="1"/>
          <p:nvPr/>
        </p:nvSpPr>
        <p:spPr>
          <a:xfrm>
            <a:off x="3997824" y="1638398"/>
            <a:ext cx="12394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10110000 </a:t>
            </a:r>
          </a:p>
        </p:txBody>
      </p:sp>
      <p:sp>
        <p:nvSpPr>
          <p:cNvPr id="30" name="Стрелка: вправо 29">
            <a:extLst>
              <a:ext uri="{FF2B5EF4-FFF2-40B4-BE49-F238E27FC236}">
                <a16:creationId xmlns:a16="http://schemas.microsoft.com/office/drawing/2014/main" id="{B15C6839-D034-4478-8855-2174CDA88106}"/>
              </a:ext>
            </a:extLst>
          </p:cNvPr>
          <p:cNvSpPr/>
          <p:nvPr/>
        </p:nvSpPr>
        <p:spPr>
          <a:xfrm rot="5400000">
            <a:off x="4099229" y="2702835"/>
            <a:ext cx="1036632" cy="79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38F932-19CC-4162-A296-126F3A6612BF}"/>
              </a:ext>
            </a:extLst>
          </p:cNvPr>
          <p:cNvSpPr txBox="1"/>
          <p:nvPr/>
        </p:nvSpPr>
        <p:spPr>
          <a:xfrm>
            <a:off x="7177846" y="1530110"/>
            <a:ext cx="11400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10111110</a:t>
            </a:r>
          </a:p>
        </p:txBody>
      </p:sp>
      <p:sp>
        <p:nvSpPr>
          <p:cNvPr id="32" name="Стрелка: вправо 31">
            <a:extLst>
              <a:ext uri="{FF2B5EF4-FFF2-40B4-BE49-F238E27FC236}">
                <a16:creationId xmlns:a16="http://schemas.microsoft.com/office/drawing/2014/main" id="{FE9982CB-CDE5-4787-89D4-450B0968CF4D}"/>
              </a:ext>
            </a:extLst>
          </p:cNvPr>
          <p:cNvSpPr/>
          <p:nvPr/>
        </p:nvSpPr>
        <p:spPr>
          <a:xfrm rot="5400000">
            <a:off x="7125503" y="2716775"/>
            <a:ext cx="1036632" cy="790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4787AE-B1C0-49FF-81A0-04B88D20F942}"/>
              </a:ext>
            </a:extLst>
          </p:cNvPr>
          <p:cNvSpPr txBox="1"/>
          <p:nvPr/>
        </p:nvSpPr>
        <p:spPr>
          <a:xfrm>
            <a:off x="257981" y="4188529"/>
            <a:ext cx="1686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Программист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0BA8D5-E151-46B8-985E-4F3F7BA1C11D}"/>
              </a:ext>
            </a:extLst>
          </p:cNvPr>
          <p:cNvSpPr txBox="1"/>
          <p:nvPr/>
        </p:nvSpPr>
        <p:spPr>
          <a:xfrm>
            <a:off x="10329670" y="4070731"/>
            <a:ext cx="16866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Программист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6AD39B-356C-4467-B8FD-FD6E3C7A87C2}"/>
              </a:ext>
            </a:extLst>
          </p:cNvPr>
          <p:cNvSpPr txBox="1"/>
          <p:nvPr/>
        </p:nvSpPr>
        <p:spPr>
          <a:xfrm>
            <a:off x="2457678" y="4163927"/>
            <a:ext cx="19163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Компилятор</a:t>
            </a:r>
          </a:p>
          <a:p>
            <a:pPr algn="ctr"/>
            <a:r>
              <a:rPr lang="ru-RU" sz="2000" dirty="0"/>
              <a:t>или </a:t>
            </a:r>
          </a:p>
          <a:p>
            <a:pPr algn="ctr"/>
            <a:r>
              <a:rPr lang="ru-RU" sz="2000" dirty="0"/>
              <a:t>Интерпретатор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C26D21-CF2C-40B7-8D12-E39F10384181}"/>
              </a:ext>
            </a:extLst>
          </p:cNvPr>
          <p:cNvSpPr txBox="1"/>
          <p:nvPr/>
        </p:nvSpPr>
        <p:spPr>
          <a:xfrm>
            <a:off x="7949217" y="4163926"/>
            <a:ext cx="19163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Компилятор</a:t>
            </a:r>
          </a:p>
          <a:p>
            <a:pPr algn="ctr"/>
            <a:r>
              <a:rPr lang="ru-RU" sz="2000" dirty="0"/>
              <a:t>или </a:t>
            </a:r>
          </a:p>
          <a:p>
            <a:pPr algn="ctr"/>
            <a:r>
              <a:rPr lang="ru-RU" sz="2000" dirty="0"/>
              <a:t>Интерпретатор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640A98-AE2C-427F-9F2E-C918E8CB636C}"/>
              </a:ext>
            </a:extLst>
          </p:cNvPr>
          <p:cNvSpPr txBox="1"/>
          <p:nvPr/>
        </p:nvSpPr>
        <p:spPr>
          <a:xfrm>
            <a:off x="4721600" y="4221664"/>
            <a:ext cx="264419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ЭВМ</a:t>
            </a:r>
          </a:p>
          <a:p>
            <a:pPr algn="ctr"/>
            <a:r>
              <a:rPr lang="ru-RU" sz="2000" dirty="0"/>
              <a:t>(электронно-вычислительная машина)</a:t>
            </a:r>
          </a:p>
          <a:p>
            <a:pPr algn="ctr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41565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Что такое программирование?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b="1" dirty="0"/>
              <a:t>Программирование</a:t>
            </a:r>
            <a:r>
              <a:rPr lang="ru-RU" sz="2400" dirty="0"/>
              <a:t> – это процесс написания инструкций на языке программирования, которые компьютер выполняет для решения определённой задачи.</a:t>
            </a:r>
          </a:p>
          <a:p>
            <a:pPr marL="45720" indent="0">
              <a:buNone/>
            </a:pPr>
            <a:r>
              <a:rPr lang="ru-RU" sz="2400" b="1" dirty="0"/>
              <a:t>Программист</a:t>
            </a:r>
            <a:r>
              <a:rPr lang="ru-RU" sz="2400" dirty="0"/>
              <a:t> – это специалист, который создаёт программы с помощью языков программирования.</a:t>
            </a:r>
          </a:p>
          <a:p>
            <a:pPr marL="45720" indent="0">
              <a:buNone/>
            </a:pPr>
            <a:r>
              <a:rPr lang="ru-RU" sz="2400" dirty="0"/>
              <a:t>Программисты:</a:t>
            </a:r>
          </a:p>
          <a:p>
            <a:r>
              <a:rPr lang="ru-RU" sz="2400" dirty="0"/>
              <a:t>Анализируют задачи и придумывают решения.</a:t>
            </a:r>
          </a:p>
          <a:p>
            <a:r>
              <a:rPr lang="ru-RU" sz="2400" dirty="0"/>
              <a:t>Пишут код и тестируют его.</a:t>
            </a:r>
          </a:p>
          <a:p>
            <a:r>
              <a:rPr lang="ru-RU" sz="2400" dirty="0"/>
              <a:t>Оптимизируют программы, делая их быстрее и удобнее.</a:t>
            </a:r>
          </a:p>
          <a:p>
            <a:r>
              <a:rPr lang="ru-RU" sz="2400" dirty="0"/>
              <a:t>Работают с алгоритмами и структурами данных.</a:t>
            </a:r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7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78441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  Знакомство с Python.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6CD0D2-D180-4BA5-ABE0-FC6A77647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649" y="3869634"/>
            <a:ext cx="5100918" cy="255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25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b="1" dirty="0"/>
              <a:t>Python</a:t>
            </a:r>
            <a:r>
              <a:rPr lang="ru-RU" dirty="0"/>
              <a:t> –</a:t>
            </a:r>
            <a:r>
              <a:rPr lang="en-US" dirty="0"/>
              <a:t> </a:t>
            </a:r>
            <a:r>
              <a:rPr lang="ru-RU" dirty="0"/>
              <a:t>это мощный и универсальный язык, который широко используется в различных сферах IT. Его популярность обусловлена простотой синтаксиса, читаемостью кода и огромным сообществом разработчиков.</a:t>
            </a:r>
          </a:p>
          <a:p>
            <a:pPr marL="45720" indent="0">
              <a:buNone/>
            </a:pPr>
            <a:r>
              <a:rPr lang="ru-RU" dirty="0"/>
              <a:t>Python применяется в самых разных областях:</a:t>
            </a:r>
          </a:p>
          <a:p>
            <a:r>
              <a:rPr lang="ru-RU" b="1" dirty="0"/>
              <a:t>Веб-разработка</a:t>
            </a:r>
            <a:r>
              <a:rPr lang="ru-RU" dirty="0"/>
              <a:t> – создание сайтов и веб-приложений.</a:t>
            </a:r>
          </a:p>
          <a:p>
            <a:r>
              <a:rPr lang="ru-RU" b="1" dirty="0"/>
              <a:t>Анализ данных и машинное обучение</a:t>
            </a:r>
            <a:r>
              <a:rPr lang="ru-RU" dirty="0"/>
              <a:t> – обработка больших данных, нейросети, искусственный интеллект.</a:t>
            </a:r>
          </a:p>
          <a:p>
            <a:r>
              <a:rPr lang="ru-RU" b="1" dirty="0"/>
              <a:t>Автоматизация задач </a:t>
            </a:r>
            <a:r>
              <a:rPr lang="ru-RU" dirty="0"/>
              <a:t>– написание скриптов, которые выполняют рутинные процессы.</a:t>
            </a:r>
          </a:p>
          <a:p>
            <a:r>
              <a:rPr lang="ru-RU" b="1" dirty="0"/>
              <a:t>Кибербезопасность</a:t>
            </a:r>
            <a:r>
              <a:rPr lang="ru-RU" dirty="0"/>
              <a:t> – создание инструментов для тестирования безопасности.</a:t>
            </a:r>
          </a:p>
          <a:p>
            <a:r>
              <a:rPr lang="ru-RU" b="1" dirty="0"/>
              <a:t>Разработка игр </a:t>
            </a:r>
            <a:r>
              <a:rPr lang="ru-RU" dirty="0"/>
              <a:t>– создание игр на основе </a:t>
            </a:r>
            <a:r>
              <a:rPr lang="ru-RU" dirty="0" err="1"/>
              <a:t>Pygame</a:t>
            </a:r>
            <a:r>
              <a:rPr lang="ru-RU" dirty="0"/>
              <a:t>.</a:t>
            </a:r>
          </a:p>
          <a:p>
            <a:r>
              <a:rPr lang="ru-RU" b="1" dirty="0"/>
              <a:t>Встраиваемые системы и </a:t>
            </a:r>
            <a:r>
              <a:rPr lang="ru-RU" b="1" dirty="0" err="1"/>
              <a:t>IoT</a:t>
            </a:r>
            <a:r>
              <a:rPr lang="ru-RU" b="1" dirty="0"/>
              <a:t> </a:t>
            </a:r>
            <a:r>
              <a:rPr lang="ru-RU" dirty="0"/>
              <a:t>– программирование микроконтроллеров.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9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952152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Интерпретируемый язык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/>
              <a:t>Python относится к </a:t>
            </a:r>
            <a:r>
              <a:rPr lang="ru-RU" b="1" dirty="0"/>
              <a:t>интерпретируемым языкам </a:t>
            </a:r>
            <a:r>
              <a:rPr lang="ru-RU" dirty="0"/>
              <a:t>программирования.</a:t>
            </a:r>
          </a:p>
          <a:p>
            <a:r>
              <a:rPr lang="ru-RU" dirty="0"/>
              <a:t>В отличие от компилируемых языков (например, C или Java), Python не требует предварительной компиляции в машинный код.</a:t>
            </a:r>
          </a:p>
          <a:p>
            <a:r>
              <a:rPr lang="ru-RU" dirty="0"/>
              <a:t>Вместо этого специальная программа – интерпретатор Python – выполняет код построчно, переводя его в машинные инструкции на лету.</a:t>
            </a:r>
          </a:p>
          <a:p>
            <a:pPr marL="45720" indent="0">
              <a:buNone/>
            </a:pPr>
            <a:r>
              <a:rPr lang="ru-RU" dirty="0"/>
              <a:t>Это можно сравнить с тем, как человек читает книгу.</a:t>
            </a:r>
          </a:p>
          <a:p>
            <a:r>
              <a:rPr lang="ru-RU" dirty="0"/>
              <a:t>Если код компилируемый – это значит, что сначала вся книга переводится целиком, а затем мы можем её прочитать.</a:t>
            </a:r>
          </a:p>
          <a:p>
            <a:r>
              <a:rPr lang="ru-RU" dirty="0"/>
              <a:t>Если код интерпретируемый (как в Python), то компьютер читает и выполняет код построчно, так же как человек читает книгу по одной строке за раз.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10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33680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11</a:t>
            </a:fld>
            <a:endParaRPr lang="ru-RU" sz="2000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53A9A7F-5237-4638-9B6C-0A1C0B30F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9DB8A93-F26B-4B89-94D0-409FA1E4F57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3619500"/>
            <a:ext cx="11545454" cy="2198594"/>
          </a:xfrm>
        </p:spPr>
        <p:txBody>
          <a:bodyPr>
            <a:normAutofit fontScale="90000"/>
          </a:bodyPr>
          <a:lstStyle/>
          <a:p>
            <a:r>
              <a:rPr lang="ru-RU" sz="3100" b="1" dirty="0">
                <a:solidFill>
                  <a:schemeClr val="bg1"/>
                </a:solidFill>
              </a:rPr>
              <a:t>Среда разработки </a:t>
            </a:r>
            <a:r>
              <a:rPr lang="ru-RU" sz="3100" dirty="0">
                <a:solidFill>
                  <a:schemeClr val="bg1"/>
                </a:solidFill>
              </a:rPr>
              <a:t>— программа или сервис, которые переводят(интерпретируют или компилируют) код, который мы пишем.</a:t>
            </a:r>
            <a:br>
              <a:rPr lang="ru-RU" sz="2700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3F39E17E-8742-4D7D-8066-B7100BA67EFB}"/>
              </a:ext>
            </a:extLst>
          </p:cNvPr>
          <p:cNvSpPr txBox="1">
            <a:spLocks/>
          </p:cNvSpPr>
          <p:nvPr/>
        </p:nvSpPr>
        <p:spPr>
          <a:xfrm>
            <a:off x="674256" y="1688054"/>
            <a:ext cx="11083634" cy="1562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5200" b="1" dirty="0">
                <a:solidFill>
                  <a:schemeClr val="bg1"/>
                </a:solidFill>
              </a:rPr>
              <a:t>Подготовка среды разработки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196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Комментарии 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b="1" dirty="0">
                <a:solidFill>
                  <a:srgbClr val="FF0000"/>
                </a:solidFill>
              </a:rPr>
              <a:t>Комментарии</a:t>
            </a:r>
            <a:r>
              <a:rPr lang="ru-RU" dirty="0"/>
              <a:t> — это участок в программе, который интерпретатор не считывает и не переводит. Для того чтобы написать комментарий необходимо перед текстом поставить </a:t>
            </a:r>
            <a:r>
              <a:rPr lang="ru-RU" b="1" dirty="0">
                <a:solidFill>
                  <a:srgbClr val="FF0000"/>
                </a:solidFill>
              </a:rPr>
              <a:t>#</a:t>
            </a:r>
            <a:r>
              <a:rPr lang="ru-RU" dirty="0"/>
              <a:t>. Комментарий не обязательно должен начинаться с начала строки, их можно писать в любой момент строки, главное помнить, что </a:t>
            </a:r>
            <a:r>
              <a:rPr lang="ru-RU" dirty="0">
                <a:solidFill>
                  <a:srgbClr val="FF0000"/>
                </a:solidFill>
              </a:rPr>
              <a:t>справа от знака # </a:t>
            </a:r>
            <a:r>
              <a:rPr lang="ru-RU" dirty="0"/>
              <a:t>всё считается комментарием и работать не будет.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12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AB704F-A1AC-4278-B5C5-7FF7C472E2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41" t="24132"/>
          <a:stretch/>
        </p:blipFill>
        <p:spPr>
          <a:xfrm>
            <a:off x="663388" y="2841812"/>
            <a:ext cx="5834563" cy="70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37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Ввод и вывод данных 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b="1" dirty="0" err="1">
                <a:solidFill>
                  <a:srgbClr val="FF0000"/>
                </a:solidFill>
              </a:rPr>
              <a:t>print</a:t>
            </a:r>
            <a:r>
              <a:rPr lang="ru-RU" b="1" dirty="0"/>
              <a:t> — </a:t>
            </a:r>
            <a:r>
              <a:rPr lang="ru-RU" dirty="0"/>
              <a:t>это команда, которая даёт компьютеру инструкцию: “Выведи что-то на экран”.</a:t>
            </a: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ru-RU" dirty="0"/>
              <a:t>Для вывода текста на новую строку можно написать команду </a:t>
            </a:r>
            <a:r>
              <a:rPr lang="en-US" b="1" dirty="0">
                <a:solidFill>
                  <a:srgbClr val="FF0000"/>
                </a:solidFill>
              </a:rPr>
              <a:t>print</a:t>
            </a:r>
            <a:r>
              <a:rPr lang="en-US" dirty="0"/>
              <a:t> </a:t>
            </a:r>
            <a:r>
              <a:rPr lang="ru-RU" dirty="0"/>
              <a:t>с новой строки или поставить символ переноса строки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\n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dirty="0"/>
              <a:t>в месте начала новой строки</a:t>
            </a:r>
            <a:r>
              <a:rPr lang="en-US" dirty="0"/>
              <a:t>.</a:t>
            </a:r>
          </a:p>
          <a:p>
            <a:pPr marL="45720" indent="0">
              <a:buNone/>
            </a:pPr>
            <a:r>
              <a:rPr lang="ru-RU" dirty="0"/>
              <a:t>*учтите, что пробел после </a:t>
            </a:r>
            <a:r>
              <a:rPr lang="en-US" b="1" dirty="0">
                <a:solidFill>
                  <a:srgbClr val="FF0000"/>
                </a:solidFill>
              </a:rPr>
              <a:t>\n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dirty="0"/>
              <a:t>отобразится на экране, если хотите тест в одну строку, то после </a:t>
            </a:r>
            <a:r>
              <a:rPr lang="en-US" b="1" dirty="0">
                <a:solidFill>
                  <a:srgbClr val="FF0000"/>
                </a:solidFill>
              </a:rPr>
              <a:t>\n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dirty="0"/>
              <a:t>надо сразу писать свой текст</a:t>
            </a:r>
          </a:p>
          <a:p>
            <a:pPr marL="45720" indent="0">
              <a:buNone/>
            </a:pPr>
            <a:r>
              <a:rPr lang="ru-RU" dirty="0"/>
              <a:t>Код:							Результат:</a:t>
            </a:r>
            <a:endParaRPr lang="en-US" dirty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13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2194A8E-3C55-4249-BB3C-217DB7E3021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9" t="12348"/>
          <a:stretch/>
        </p:blipFill>
        <p:spPr>
          <a:xfrm>
            <a:off x="663388" y="1658471"/>
            <a:ext cx="5643304" cy="7082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3E3D97-5D90-4513-AAD2-B2403EC91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88" y="4660448"/>
            <a:ext cx="5933457" cy="126522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700505-AB63-4698-A027-3279FC2DF4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5618" y="4576628"/>
            <a:ext cx="2280782" cy="204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48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Ввод и вывод данных 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b="1" dirty="0" err="1"/>
              <a:t>input</a:t>
            </a:r>
            <a:r>
              <a:rPr lang="ru-RU" b="1" dirty="0"/>
              <a:t>() </a:t>
            </a:r>
            <a:r>
              <a:rPr lang="ru-RU" dirty="0"/>
              <a:t>— команда, которая даёт возможность пользователю(нам) ввести данные в консоль. Это может быть ответ на вопрос или сообщение, которое надо вывести или передать. Также как и команда </a:t>
            </a:r>
            <a:r>
              <a:rPr lang="ru-RU" dirty="0" err="1"/>
              <a:t>print</a:t>
            </a:r>
            <a:r>
              <a:rPr lang="ru-RU" dirty="0"/>
              <a:t>(), может выводить сообщения, если также как и с командой </a:t>
            </a:r>
            <a:r>
              <a:rPr lang="ru-RU" dirty="0" err="1"/>
              <a:t>print</a:t>
            </a:r>
            <a:r>
              <a:rPr lang="ru-RU" dirty="0"/>
              <a:t>(), указать текст внутри скобок.</a:t>
            </a:r>
          </a:p>
          <a:p>
            <a:pPr marL="45720" indent="0">
              <a:buNone/>
            </a:pPr>
            <a:r>
              <a:rPr lang="ru-RU" dirty="0"/>
              <a:t>Чтобы запомнить ответ пользователя, необходимо его записать в переменную.</a:t>
            </a:r>
          </a:p>
          <a:p>
            <a:pPr marL="45720" indent="0">
              <a:buNone/>
            </a:pPr>
            <a:r>
              <a:rPr lang="ru-RU" b="1" dirty="0"/>
              <a:t>Переменная </a:t>
            </a:r>
            <a:r>
              <a:rPr lang="ru-RU" dirty="0"/>
              <a:t>– это способ сохранить какую-то информацию в программе, чтобы можно было её потом использовать, изменить или показать.</a:t>
            </a:r>
          </a:p>
          <a:p>
            <a:pPr marL="45720" indent="0">
              <a:buNone/>
            </a:pPr>
            <a:r>
              <a:rPr lang="ru-RU" dirty="0"/>
              <a:t>В создании переменной, придумывание имени является первым шагом для её создания.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14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402420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Переменные 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76156"/>
            <a:ext cx="11214847" cy="3370729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ru-RU" dirty="0"/>
              <a:t>Имя переменной можно придумать самому, но есть несколько правил:</a:t>
            </a:r>
          </a:p>
          <a:p>
            <a:r>
              <a:rPr lang="ru-RU" dirty="0"/>
              <a:t>Начинается с буквы или подчёркивания _</a:t>
            </a:r>
          </a:p>
          <a:p>
            <a:r>
              <a:rPr lang="ru-RU" dirty="0"/>
              <a:t>Нельзя начинать с цифры</a:t>
            </a:r>
          </a:p>
          <a:p>
            <a:r>
              <a:rPr lang="ru-RU" dirty="0"/>
              <a:t>Нельзя использовать пробелы</a:t>
            </a:r>
          </a:p>
          <a:p>
            <a:r>
              <a:rPr lang="ru-RU" dirty="0"/>
              <a:t>Нельзя использовать слова, которые уже заняты Python (например, </a:t>
            </a:r>
            <a:r>
              <a:rPr lang="ru-RU" dirty="0" err="1"/>
              <a:t>print</a:t>
            </a:r>
            <a:r>
              <a:rPr lang="ru-RU" dirty="0"/>
              <a:t>, </a:t>
            </a:r>
            <a:r>
              <a:rPr lang="ru-RU" dirty="0" err="1"/>
              <a:t>input</a:t>
            </a:r>
            <a:r>
              <a:rPr lang="ru-RU" dirty="0"/>
              <a:t> — команды с которыми мы работали и др.). Все занятые слова выполняют какое-то действие или команду, поэтому Python не поймёт хотим ли мы создать переменную или выполнить действие.</a:t>
            </a:r>
          </a:p>
          <a:p>
            <a:r>
              <a:rPr lang="ru-RU" dirty="0"/>
              <a:t>Имена чувствительны к регистру (например, </a:t>
            </a:r>
            <a:r>
              <a:rPr lang="ru-RU" dirty="0" err="1"/>
              <a:t>name</a:t>
            </a:r>
            <a:r>
              <a:rPr lang="ru-RU" dirty="0"/>
              <a:t>, Name, NAME — три разные переменные)</a:t>
            </a:r>
          </a:p>
          <a:p>
            <a:pPr marL="45720" indent="0">
              <a:buNone/>
            </a:pPr>
            <a:r>
              <a:rPr lang="ru-RU" dirty="0"/>
              <a:t>Также хорошим тоном считается давать название переменной, отражающую суть того, что она хранит.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15</a:t>
            </a:fld>
            <a:endParaRPr lang="ru-RU" sz="2000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1D84358-75F9-45BA-8F2C-E2A051F639ED}"/>
              </a:ext>
            </a:extLst>
          </p:cNvPr>
          <p:cNvSpPr txBox="1">
            <a:spLocks/>
          </p:cNvSpPr>
          <p:nvPr/>
        </p:nvSpPr>
        <p:spPr>
          <a:xfrm>
            <a:off x="6412659" y="4638308"/>
            <a:ext cx="3569707" cy="1264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ru-RU" dirty="0">
                <a:solidFill>
                  <a:srgbClr val="FF0000"/>
                </a:solidFill>
              </a:rPr>
              <a:t>Плохие имена (нельзя так):</a:t>
            </a:r>
          </a:p>
          <a:p>
            <a:pPr marL="45720" indent="0">
              <a:buFont typeface="Corbel" pitchFamily="34" charset="0"/>
              <a:buNone/>
            </a:pPr>
            <a:r>
              <a:rPr lang="ru-RU" dirty="0">
                <a:solidFill>
                  <a:srgbClr val="FF0000"/>
                </a:solidFill>
              </a:rPr>
              <a:t>2name, </a:t>
            </a:r>
            <a:r>
              <a:rPr lang="ru-RU" dirty="0" err="1">
                <a:solidFill>
                  <a:srgbClr val="FF0000"/>
                </a:solidFill>
              </a:rPr>
              <a:t>user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>
                <a:solidFill>
                  <a:srgbClr val="FF0000"/>
                </a:solidFill>
              </a:rPr>
              <a:t>name</a:t>
            </a:r>
            <a:r>
              <a:rPr lang="ru-RU" dirty="0">
                <a:solidFill>
                  <a:srgbClr val="FF0000"/>
                </a:solidFill>
              </a:rPr>
              <a:t>, </a:t>
            </a:r>
            <a:r>
              <a:rPr lang="ru-RU" dirty="0" err="1">
                <a:solidFill>
                  <a:srgbClr val="FF0000"/>
                </a:solidFill>
              </a:rPr>
              <a:t>print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B3D1F5A-AB9D-43F0-B919-2F46B20FF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57" y="4546885"/>
            <a:ext cx="1695357" cy="126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F45779C-12DA-423F-95E6-548E37372BF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8" r="9095"/>
          <a:stretch/>
        </p:blipFill>
        <p:spPr>
          <a:xfrm>
            <a:off x="9928411" y="4638308"/>
            <a:ext cx="1775012" cy="1264023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A10067D0-C546-41A7-8493-453D00D6F428}"/>
              </a:ext>
            </a:extLst>
          </p:cNvPr>
          <p:cNvSpPr txBox="1">
            <a:spLocks/>
          </p:cNvSpPr>
          <p:nvPr/>
        </p:nvSpPr>
        <p:spPr>
          <a:xfrm>
            <a:off x="2118563" y="4638307"/>
            <a:ext cx="4500284" cy="1264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Примеры хороших имён:</a:t>
            </a:r>
          </a:p>
          <a:p>
            <a:pPr marL="45720" indent="0">
              <a:buFont typeface="Corbel" pitchFamily="34" charset="0"/>
              <a:buNone/>
            </a:pPr>
            <a:r>
              <a:rPr lang="ru-RU" dirty="0" err="1">
                <a:solidFill>
                  <a:schemeClr val="accent4">
                    <a:lumMod val="75000"/>
                  </a:schemeClr>
                </a:solidFill>
              </a:rPr>
              <a:t>age</a:t>
            </a: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ru-RU" dirty="0" err="1">
                <a:solidFill>
                  <a:schemeClr val="accent4">
                    <a:lumMod val="75000"/>
                  </a:schemeClr>
                </a:solidFill>
              </a:rPr>
              <a:t>user_name</a:t>
            </a: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ru-RU" dirty="0" err="1">
                <a:solidFill>
                  <a:schemeClr val="accent4">
                    <a:lumMod val="75000"/>
                  </a:schemeClr>
                </a:solidFill>
              </a:rPr>
              <a:t>score</a:t>
            </a:r>
            <a:r>
              <a:rPr lang="ru-RU" dirty="0">
                <a:solidFill>
                  <a:schemeClr val="accent4">
                    <a:lumMod val="75000"/>
                  </a:schemeClr>
                </a:solidFill>
              </a:rPr>
              <a:t>, _</a:t>
            </a:r>
            <a:r>
              <a:rPr lang="ru-RU" dirty="0" err="1">
                <a:solidFill>
                  <a:schemeClr val="accent4">
                    <a:lumMod val="75000"/>
                  </a:schemeClr>
                </a:solidFill>
              </a:rPr>
              <a:t>secret</a:t>
            </a:r>
            <a:endParaRPr lang="ru-RU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431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Переменные 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76156"/>
            <a:ext cx="11214847" cy="5090173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После того, как придумали имя, создадим переменную. Запишем её название в программе, далее необходимо поставить знак «</a:t>
            </a:r>
            <a:r>
              <a:rPr lang="ru-RU" sz="2400" dirty="0">
                <a:solidFill>
                  <a:srgbClr val="FF0000"/>
                </a:solidFill>
              </a:rPr>
              <a:t>=</a:t>
            </a:r>
            <a:r>
              <a:rPr lang="ru-RU" sz="2400" dirty="0"/>
              <a:t>», в программировании этот знак имеет значение «Присвоить», после этого знака мы пишем значение, которое хотим внести в нашу переменную (присваиваем переменной значение)</a:t>
            </a:r>
          </a:p>
          <a:p>
            <a:pPr marL="45720" indent="0">
              <a:buNone/>
            </a:pPr>
            <a:r>
              <a:rPr lang="ru-RU" sz="2400" dirty="0"/>
              <a:t>В Python переменная записывается так:</a:t>
            </a:r>
          </a:p>
          <a:p>
            <a:pPr marL="45720" indent="0">
              <a:buNone/>
            </a:pPr>
            <a:r>
              <a:rPr lang="ru-RU" sz="2400" dirty="0" err="1">
                <a:solidFill>
                  <a:srgbClr val="FF0000"/>
                </a:solidFill>
              </a:rPr>
              <a:t>name</a:t>
            </a:r>
            <a:r>
              <a:rPr lang="ru-RU" sz="2400" dirty="0">
                <a:solidFill>
                  <a:srgbClr val="FF0000"/>
                </a:solidFill>
              </a:rPr>
              <a:t> = "Маша"</a:t>
            </a:r>
          </a:p>
          <a:p>
            <a:pPr marL="45720" indent="0">
              <a:buNone/>
            </a:pPr>
            <a:r>
              <a:rPr lang="ru-RU" sz="2400" dirty="0"/>
              <a:t>Здесь:</a:t>
            </a:r>
          </a:p>
          <a:p>
            <a:r>
              <a:rPr lang="ru-RU" sz="2400" b="1" dirty="0" err="1"/>
              <a:t>name</a:t>
            </a:r>
            <a:r>
              <a:rPr lang="ru-RU" sz="2400" dirty="0"/>
              <a:t> — имя переменной</a:t>
            </a:r>
          </a:p>
          <a:p>
            <a:r>
              <a:rPr lang="ru-RU" sz="2400" b="1" dirty="0"/>
              <a:t>«=»</a:t>
            </a:r>
            <a:r>
              <a:rPr lang="ru-RU" sz="2400" dirty="0"/>
              <a:t> — знак присваивания</a:t>
            </a:r>
          </a:p>
          <a:p>
            <a:r>
              <a:rPr lang="ru-RU" sz="2400" b="1" dirty="0"/>
              <a:t>«Маша» </a:t>
            </a:r>
            <a:r>
              <a:rPr lang="ru-RU" sz="2400" dirty="0"/>
              <a:t>— значение, которое мы сохраняем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16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617507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Ввод и вывод данных 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3388659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/>
              <a:t>Присваиваем переменной (с помощью знака </a:t>
            </a:r>
            <a:r>
              <a:rPr lang="ru-RU" b="1" dirty="0">
                <a:solidFill>
                  <a:srgbClr val="FF0000"/>
                </a:solidFill>
              </a:rPr>
              <a:t>=</a:t>
            </a:r>
            <a:r>
              <a:rPr lang="ru-RU" dirty="0"/>
              <a:t>) значение результата выполнения команды </a:t>
            </a:r>
            <a:r>
              <a:rPr lang="ru-RU" b="1" dirty="0" err="1">
                <a:solidFill>
                  <a:srgbClr val="FF0000"/>
                </a:solidFill>
              </a:rPr>
              <a:t>input</a:t>
            </a:r>
            <a:r>
              <a:rPr lang="ru-RU" b="1" dirty="0">
                <a:solidFill>
                  <a:srgbClr val="FF0000"/>
                </a:solidFill>
              </a:rPr>
              <a:t>() </a:t>
            </a:r>
            <a:r>
              <a:rPr lang="ru-RU" b="1" dirty="0"/>
              <a:t>, </a:t>
            </a:r>
            <a:r>
              <a:rPr lang="ru-RU" dirty="0"/>
              <a:t>то есть сохраняем ответ пользователя в переменной.</a:t>
            </a:r>
          </a:p>
          <a:p>
            <a:pPr marL="45720" indent="0">
              <a:buNone/>
            </a:pPr>
            <a:r>
              <a:rPr lang="ru-RU" dirty="0"/>
              <a:t>Записываем в скобочках и кавычках (весь текст пишем </a:t>
            </a:r>
            <a:r>
              <a:rPr lang="ru-RU" b="1" i="1" dirty="0"/>
              <a:t>обязательно</a:t>
            </a:r>
            <a:r>
              <a:rPr lang="ru-RU" dirty="0"/>
              <a:t> в них) вопрос который увидит пользователь.</a:t>
            </a:r>
          </a:p>
          <a:p>
            <a:pPr marL="45720" indent="0">
              <a:buNone/>
            </a:pPr>
            <a:r>
              <a:rPr lang="ru-RU" dirty="0"/>
              <a:t>Результат показываем на экране с помощью команды </a:t>
            </a:r>
            <a:r>
              <a:rPr lang="en-US" dirty="0">
                <a:solidFill>
                  <a:srgbClr val="FF0000"/>
                </a:solidFill>
              </a:rPr>
              <a:t>print</a:t>
            </a:r>
            <a:r>
              <a:rPr lang="ru-RU" dirty="0">
                <a:solidFill>
                  <a:srgbClr val="FF0000"/>
                </a:solidFill>
              </a:rPr>
              <a:t>.</a:t>
            </a:r>
          </a:p>
          <a:p>
            <a:pPr marL="45720" indent="0">
              <a:buNone/>
            </a:pPr>
            <a:r>
              <a:rPr lang="ru-RU" dirty="0"/>
              <a:t>Пишем вводный текст в кавычках и выводим ответ пользователя с помощью переменной</a:t>
            </a:r>
          </a:p>
          <a:p>
            <a:pPr marL="45720" indent="0">
              <a:buNone/>
            </a:pPr>
            <a:r>
              <a:rPr lang="ru-RU" dirty="0"/>
              <a:t>Обязательно пишем </a:t>
            </a:r>
            <a:r>
              <a:rPr lang="ru-RU" dirty="0">
                <a:solidFill>
                  <a:srgbClr val="FF0000"/>
                </a:solidFill>
              </a:rPr>
              <a:t>+ </a:t>
            </a:r>
            <a:r>
              <a:rPr lang="ru-RU" dirty="0"/>
              <a:t>если объединяем две строки(используем конкатенацию), например текст и переменную или две переменные, как в математическом примере 1+1=2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17</a:t>
            </a:fld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910309-C144-43F9-B513-DEE9DFAE0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7" y="5007195"/>
            <a:ext cx="6123918" cy="1180245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053A26AE-DF5E-4D19-8BC1-10C0FE535923}"/>
              </a:ext>
            </a:extLst>
          </p:cNvPr>
          <p:cNvSpPr txBox="1">
            <a:spLocks/>
          </p:cNvSpPr>
          <p:nvPr/>
        </p:nvSpPr>
        <p:spPr>
          <a:xfrm>
            <a:off x="529937" y="4484960"/>
            <a:ext cx="11214847" cy="522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ru-RU" dirty="0"/>
              <a:t>Код:								Результат: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33C7BD9-C9FD-4151-8221-3FD22590F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723" y="4954297"/>
            <a:ext cx="2876951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5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D1FE7-A3CC-47A6-B41B-AF10A862ED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0" i="0" cap="all" dirty="0">
                <a:solidFill>
                  <a:srgbClr val="FFFFFF"/>
                </a:solidFill>
                <a:effectLst/>
                <a:latin typeface="Inter"/>
              </a:rPr>
              <a:t>Переменные и данные в Python.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22F94E-2FDF-4C12-810D-4E517C9F6C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86CD0D2-D180-4BA5-ABE0-FC6A77647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649" y="3869634"/>
            <a:ext cx="5100918" cy="255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5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sz="4400" dirty="0"/>
              <a:t>Типы данных</a:t>
            </a:r>
            <a:r>
              <a:rPr lang="ru-RU" dirty="0"/>
              <a:t> 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76156"/>
            <a:ext cx="11214847" cy="533158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Переменные в Python могут хранить разные </a:t>
            </a:r>
            <a:r>
              <a:rPr lang="ru-RU" sz="2400" b="1" dirty="0"/>
              <a:t>типы данных </a:t>
            </a:r>
            <a:r>
              <a:rPr lang="ru-RU" sz="2400" dirty="0"/>
              <a:t>— числа, слова, и даже правду и ложь!</a:t>
            </a:r>
          </a:p>
          <a:p>
            <a:pPr marL="45720" indent="0">
              <a:buNone/>
            </a:pPr>
            <a:r>
              <a:rPr lang="ru-RU" sz="2400" dirty="0"/>
              <a:t>Вернёмся к примеру, что переменная это коробка, но переменных теперь будет 4.</a:t>
            </a:r>
          </a:p>
          <a:p>
            <a:r>
              <a:rPr lang="ru-RU" sz="2400" dirty="0"/>
              <a:t>В одну коробку кладём текст — это строка.</a:t>
            </a:r>
          </a:p>
          <a:p>
            <a:r>
              <a:rPr lang="ru-RU" sz="2400" dirty="0"/>
              <a:t>В другую — яблоки поштучно — это целое число.</a:t>
            </a:r>
          </a:p>
          <a:p>
            <a:r>
              <a:rPr lang="ru-RU" sz="2400" dirty="0"/>
              <a:t>В третью — молоко, которое наливаем не до конца — это дробное число.</a:t>
            </a:r>
          </a:p>
          <a:p>
            <a:r>
              <a:rPr lang="ru-RU" sz="2400" dirty="0"/>
              <a:t>А в последнюю кладём табличку «Да» или «Нет» — это логика (</a:t>
            </a:r>
            <a:r>
              <a:rPr lang="ru-RU" sz="2400" dirty="0" err="1"/>
              <a:t>True</a:t>
            </a:r>
            <a:r>
              <a:rPr lang="ru-RU" sz="2400" dirty="0"/>
              <a:t>/</a:t>
            </a:r>
            <a:r>
              <a:rPr lang="ru-RU" sz="2400" dirty="0" err="1"/>
              <a:t>False</a:t>
            </a:r>
            <a:r>
              <a:rPr lang="ru-RU" sz="2400" dirty="0"/>
              <a:t>).</a:t>
            </a:r>
          </a:p>
          <a:p>
            <a:pPr marL="45720" indent="0">
              <a:buNone/>
            </a:pPr>
            <a:r>
              <a:rPr lang="ru-RU" sz="2400" dirty="0"/>
              <a:t>Чтобы не перепутать коробки, на них пишут, что внутри.</a:t>
            </a:r>
          </a:p>
          <a:p>
            <a:pPr marL="45720" indent="0">
              <a:buNone/>
            </a:pPr>
            <a:r>
              <a:rPr lang="ru-RU" sz="2400" dirty="0"/>
              <a:t>Вот Python делает так же — он «смотрит», что ты положил, и запоминает тип данных.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19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787541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sz="4400" dirty="0"/>
              <a:t>Основные типы данных </a:t>
            </a:r>
            <a:r>
              <a:rPr lang="ru-RU" dirty="0"/>
              <a:t>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76156"/>
            <a:ext cx="11214847" cy="5331584"/>
          </a:xfrm>
        </p:spPr>
        <p:txBody>
          <a:bodyPr>
            <a:normAutofit/>
          </a:bodyPr>
          <a:lstStyle/>
          <a:p>
            <a:r>
              <a:rPr lang="ru-RU" sz="2400" b="1" dirty="0"/>
              <a:t>Строка </a:t>
            </a:r>
            <a:r>
              <a:rPr lang="en-US" sz="2400" b="1" dirty="0"/>
              <a:t>(str) </a:t>
            </a:r>
            <a:r>
              <a:rPr lang="ru-RU" sz="2400" dirty="0"/>
              <a:t>— это текст (от слова </a:t>
            </a:r>
            <a:r>
              <a:rPr lang="en-US" sz="2400" dirty="0"/>
              <a:t>string - </a:t>
            </a:r>
            <a:r>
              <a:rPr lang="ru-RU" sz="2400" dirty="0"/>
              <a:t>строка</a:t>
            </a:r>
            <a:r>
              <a:rPr lang="en-US" sz="2400" dirty="0"/>
              <a:t>)</a:t>
            </a:r>
            <a:endParaRPr lang="ru-RU" sz="2400" dirty="0"/>
          </a:p>
          <a:p>
            <a:pPr marL="45720" indent="0">
              <a:buNone/>
            </a:pPr>
            <a:r>
              <a:rPr lang="ru-RU" sz="2400" dirty="0"/>
              <a:t>Это всё, что находится внутри кавычек: ‘’, или “”. Даже числа в кавычках считаются строкой!</a:t>
            </a:r>
            <a:endParaRPr lang="en-US" sz="2400" dirty="0"/>
          </a:p>
          <a:p>
            <a:pPr marL="45720" indent="0">
              <a:buNone/>
            </a:pPr>
            <a:endParaRPr lang="en-US" sz="2400" dirty="0"/>
          </a:p>
          <a:p>
            <a:pPr marL="45720" indent="0">
              <a:buNone/>
            </a:pPr>
            <a:endParaRPr lang="ru-RU" sz="2400" dirty="0"/>
          </a:p>
          <a:p>
            <a:r>
              <a:rPr lang="ru-RU" sz="2400" b="1" dirty="0"/>
              <a:t>Числа</a:t>
            </a:r>
          </a:p>
          <a:p>
            <a:pPr marL="45720" indent="0">
              <a:buNone/>
            </a:pPr>
            <a:r>
              <a:rPr lang="ru-RU" sz="2400" b="1" dirty="0" err="1"/>
              <a:t>int</a:t>
            </a:r>
            <a:r>
              <a:rPr lang="ru-RU" sz="2400" b="1" dirty="0"/>
              <a:t> </a:t>
            </a:r>
            <a:r>
              <a:rPr lang="ru-RU" sz="2400" dirty="0"/>
              <a:t>(от слова </a:t>
            </a:r>
            <a:r>
              <a:rPr lang="ru-RU" sz="2400" dirty="0" err="1"/>
              <a:t>integer</a:t>
            </a:r>
            <a:r>
              <a:rPr lang="ru-RU" sz="2400" dirty="0"/>
              <a:t> — целое число):</a:t>
            </a:r>
          </a:p>
          <a:p>
            <a:pPr marL="45720" indent="0">
              <a:buNone/>
            </a:pPr>
            <a:r>
              <a:rPr lang="ru-RU" sz="2400" b="1" dirty="0" err="1"/>
              <a:t>float</a:t>
            </a:r>
            <a:r>
              <a:rPr lang="ru-RU" sz="2400" b="1" dirty="0"/>
              <a:t> </a:t>
            </a:r>
            <a:r>
              <a:rPr lang="ru-RU" sz="2400" dirty="0"/>
              <a:t>(число с запятой, но в коде — с точкой): </a:t>
            </a:r>
            <a:endParaRPr lang="en-US" sz="2400" dirty="0"/>
          </a:p>
          <a:p>
            <a:r>
              <a:rPr lang="ru-RU" sz="2400" b="1" dirty="0"/>
              <a:t>Логический тип (</a:t>
            </a:r>
            <a:r>
              <a:rPr lang="ru-RU" sz="2400" b="1" dirty="0" err="1"/>
              <a:t>bool</a:t>
            </a:r>
            <a:r>
              <a:rPr lang="ru-RU" sz="2400" b="1" dirty="0"/>
              <a:t>) </a:t>
            </a:r>
            <a:r>
              <a:rPr lang="ru-RU" sz="2400" dirty="0"/>
              <a:t>— это правда или ложь</a:t>
            </a:r>
          </a:p>
          <a:p>
            <a:pPr marL="45720" indent="0">
              <a:buNone/>
            </a:pPr>
            <a:r>
              <a:rPr lang="ru-RU" sz="2400" dirty="0"/>
              <a:t>В Python есть два логических значения: </a:t>
            </a:r>
            <a:r>
              <a:rPr lang="ru-RU" sz="2400" b="1" dirty="0" err="1"/>
              <a:t>True</a:t>
            </a:r>
            <a:r>
              <a:rPr lang="ru-RU" sz="2400" b="1" dirty="0"/>
              <a:t> (правда)</a:t>
            </a:r>
            <a:r>
              <a:rPr lang="ru-RU" sz="2400" dirty="0"/>
              <a:t> и </a:t>
            </a:r>
            <a:r>
              <a:rPr lang="ru-RU" sz="2400" b="1" dirty="0" err="1"/>
              <a:t>False</a:t>
            </a:r>
            <a:r>
              <a:rPr lang="ru-RU" sz="2400" b="1" dirty="0"/>
              <a:t> (ложь)</a:t>
            </a:r>
            <a:r>
              <a:rPr lang="ru-RU" sz="2400" dirty="0"/>
              <a:t>. Они пишутся с заглавной буквы!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20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374DF8-AFE7-4889-945C-170BFAEDA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27" y="2406398"/>
            <a:ext cx="2276793" cy="93358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76372C-0F04-42B5-9A3A-662B6A9034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7759"/>
          <a:stretch/>
        </p:blipFill>
        <p:spPr>
          <a:xfrm>
            <a:off x="5914353" y="4070214"/>
            <a:ext cx="1600423" cy="31352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662BB9D-310F-4B21-A52A-61734869B3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987" y="4592154"/>
            <a:ext cx="1657581" cy="22863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CF87158-CC8E-4051-B14E-4CAD060F0DB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491" b="9248"/>
          <a:stretch/>
        </p:blipFill>
        <p:spPr>
          <a:xfrm>
            <a:off x="7049307" y="5029199"/>
            <a:ext cx="1888506" cy="51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32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sz="4400" dirty="0"/>
              <a:t>Основные типы данных </a:t>
            </a:r>
            <a:r>
              <a:rPr lang="ru-RU" dirty="0"/>
              <a:t>в Python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76" y="1176156"/>
            <a:ext cx="11214847" cy="5331584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/>
              <a:t>Для работы с числовыми типами данных, в Python представлены все основные </a:t>
            </a:r>
            <a:r>
              <a:rPr lang="ru-RU" sz="2400" b="1" dirty="0"/>
              <a:t>математические операции</a:t>
            </a:r>
            <a:r>
              <a:rPr lang="ru-RU" sz="2400" dirty="0"/>
              <a:t>, для использования которых надо использовать следующие операторы:</a:t>
            </a:r>
          </a:p>
          <a:p>
            <a:r>
              <a:rPr lang="ru-RU" sz="2400" b="1" dirty="0"/>
              <a:t>Оператор «+» </a:t>
            </a:r>
            <a:r>
              <a:rPr lang="ru-RU" sz="2400" dirty="0"/>
              <a:t>— сложение</a:t>
            </a:r>
          </a:p>
          <a:p>
            <a:r>
              <a:rPr lang="ru-RU" sz="2400" b="1" dirty="0"/>
              <a:t>Оператор «-» </a:t>
            </a:r>
            <a:r>
              <a:rPr lang="ru-RU" sz="2400" dirty="0"/>
              <a:t>— вычитание</a:t>
            </a:r>
          </a:p>
          <a:p>
            <a:r>
              <a:rPr lang="ru-RU" sz="2400" b="1" dirty="0"/>
              <a:t>Оператор «*» </a:t>
            </a:r>
            <a:r>
              <a:rPr lang="ru-RU" sz="2400" dirty="0"/>
              <a:t>— умножение</a:t>
            </a:r>
          </a:p>
          <a:p>
            <a:r>
              <a:rPr lang="ru-RU" sz="2400" b="1" dirty="0"/>
              <a:t>Оператор «/»</a:t>
            </a:r>
            <a:r>
              <a:rPr lang="ru-RU" sz="2400" dirty="0"/>
              <a:t> — деление с остатком( результатом деления всегда будет дробное число (тип </a:t>
            </a:r>
            <a:r>
              <a:rPr lang="ru-RU" sz="2400" dirty="0" err="1"/>
              <a:t>float</a:t>
            </a:r>
            <a:r>
              <a:rPr lang="ru-RU" sz="2400" dirty="0"/>
              <a:t>), даже если всё делится без остатка) </a:t>
            </a:r>
          </a:p>
          <a:p>
            <a:pPr marL="45720" indent="0">
              <a:buNone/>
            </a:pPr>
            <a:r>
              <a:rPr lang="ru-RU" sz="2400" dirty="0"/>
              <a:t>например </a:t>
            </a:r>
            <a:r>
              <a:rPr lang="en-US" sz="2400" b="1" dirty="0"/>
              <a:t>2/4= 0,5     2/2=1.00</a:t>
            </a:r>
            <a:endParaRPr lang="ru-RU" sz="2400" b="1" dirty="0"/>
          </a:p>
          <a:p>
            <a:r>
              <a:rPr lang="ru-RU" sz="2400" b="1" dirty="0"/>
              <a:t>Оператор «/</a:t>
            </a:r>
            <a:r>
              <a:rPr lang="en-US" sz="2400" b="1" dirty="0"/>
              <a:t>/</a:t>
            </a:r>
            <a:r>
              <a:rPr lang="ru-RU" sz="2400" b="1" dirty="0"/>
              <a:t>»</a:t>
            </a:r>
            <a:r>
              <a:rPr lang="ru-RU" sz="2400" dirty="0"/>
              <a:t> — деление без остатка( результатом деления всегда будет дробное число (тип </a:t>
            </a:r>
            <a:r>
              <a:rPr lang="ru-RU" sz="2400" dirty="0" err="1"/>
              <a:t>float</a:t>
            </a:r>
            <a:r>
              <a:rPr lang="ru-RU" sz="2400" dirty="0"/>
              <a:t>), даже если всё делится без остатка) </a:t>
            </a:r>
          </a:p>
          <a:p>
            <a:pPr marL="45720" indent="0">
              <a:buNone/>
            </a:pPr>
            <a:r>
              <a:rPr lang="ru-RU" sz="2400" dirty="0"/>
              <a:t>например  </a:t>
            </a:r>
            <a:r>
              <a:rPr lang="en-US" sz="2400" b="1" dirty="0"/>
              <a:t>2/4=0     2/2=1</a:t>
            </a:r>
          </a:p>
          <a:p>
            <a:pPr marL="45720" indent="0">
              <a:buNone/>
            </a:pPr>
            <a:endParaRPr lang="en-US" sz="2400" dirty="0"/>
          </a:p>
          <a:p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21</a:t>
            </a:fld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647867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Преобразование типов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/>
          <a:lstStyle/>
          <a:p>
            <a:r>
              <a:rPr lang="ru-RU" dirty="0"/>
              <a:t>Однако бывают ситуации, когда уже существующую переменную надо перевести из одного типа в другой, чтобы программа работала правильно.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45720" indent="0">
              <a:buNone/>
            </a:pPr>
            <a:r>
              <a:rPr lang="ru-RU" dirty="0"/>
              <a:t>Ошибка: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22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CBD3C7-59A8-403E-8A56-7B5301AB5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8" y="1922878"/>
            <a:ext cx="7783239" cy="135847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EA4715A-CA8A-4018-B81F-F288B102E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8" y="3818362"/>
            <a:ext cx="10762969" cy="236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710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Преобразование типов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/>
          <a:lstStyle/>
          <a:p>
            <a:pPr marL="45720" indent="0">
              <a:buNone/>
            </a:pPr>
            <a:r>
              <a:rPr lang="ru-RU" dirty="0"/>
              <a:t>Правильный вариант с преобразованием		Результат:</a:t>
            </a:r>
          </a:p>
          <a:p>
            <a:endParaRPr lang="ru-RU" dirty="0"/>
          </a:p>
          <a:p>
            <a:endParaRPr lang="ru-RU" dirty="0"/>
          </a:p>
          <a:p>
            <a:pPr marL="45720" indent="0">
              <a:buNone/>
            </a:pPr>
            <a:r>
              <a:rPr lang="ru-RU" dirty="0"/>
              <a:t>Такие команды «переводчики» есть у каждого типа данных : </a:t>
            </a:r>
            <a:r>
              <a:rPr lang="ru-RU" b="1" dirty="0" err="1"/>
              <a:t>int</a:t>
            </a:r>
            <a:r>
              <a:rPr lang="ru-RU" b="1" dirty="0"/>
              <a:t>(), </a:t>
            </a:r>
            <a:r>
              <a:rPr lang="ru-RU" b="1" dirty="0" err="1"/>
              <a:t>float</a:t>
            </a:r>
            <a:r>
              <a:rPr lang="ru-RU" b="1" dirty="0"/>
              <a:t>(), </a:t>
            </a:r>
            <a:r>
              <a:rPr lang="ru-RU" b="1" dirty="0" err="1"/>
              <a:t>str</a:t>
            </a:r>
            <a:r>
              <a:rPr lang="ru-RU" b="1" dirty="0"/>
              <a:t>()</a:t>
            </a:r>
            <a:r>
              <a:rPr lang="ru-RU" dirty="0"/>
              <a:t> и т.д.</a:t>
            </a:r>
          </a:p>
          <a:p>
            <a:pPr marL="45720" indent="0">
              <a:buNone/>
            </a:pPr>
            <a:r>
              <a:rPr lang="ru-RU" dirty="0"/>
              <a:t>Преобразовать можно </a:t>
            </a:r>
            <a:r>
              <a:rPr lang="ru-RU" b="1" dirty="0"/>
              <a:t>не всё во всё</a:t>
            </a:r>
            <a:r>
              <a:rPr lang="ru-RU" dirty="0"/>
              <a:t>. Например:</a:t>
            </a:r>
          </a:p>
          <a:p>
            <a:pPr marL="45720" indent="0">
              <a:buNone/>
            </a:pPr>
            <a:r>
              <a:rPr lang="ru-RU" dirty="0"/>
              <a:t>Чтобы превратить строку в число (</a:t>
            </a:r>
            <a:r>
              <a:rPr lang="ru-RU" dirty="0" err="1"/>
              <a:t>int</a:t>
            </a:r>
            <a:r>
              <a:rPr lang="ru-RU" dirty="0"/>
              <a:t>() или </a:t>
            </a:r>
            <a:r>
              <a:rPr lang="ru-RU" dirty="0" err="1"/>
              <a:t>float</a:t>
            </a:r>
            <a:r>
              <a:rPr lang="ru-RU" dirty="0"/>
              <a:t>()), в строке </a:t>
            </a:r>
            <a:r>
              <a:rPr lang="ru-RU" b="1" dirty="0"/>
              <a:t>должны быть только цифры</a:t>
            </a:r>
            <a:r>
              <a:rPr lang="ru-RU" dirty="0"/>
              <a:t>.</a:t>
            </a:r>
          </a:p>
          <a:p>
            <a:pPr marL="45720" indent="0">
              <a:buNone/>
            </a:pPr>
            <a:r>
              <a:rPr lang="ru-RU" dirty="0"/>
              <a:t>Код:				              Ошибка: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23</a:t>
            </a:fld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5686C6-BF5F-4DAC-A21B-D3F03564B3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87"/>
          <a:stretch/>
        </p:blipFill>
        <p:spPr>
          <a:xfrm>
            <a:off x="609598" y="1559859"/>
            <a:ext cx="4930590" cy="108619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48417E7-636C-4B16-A20A-1C3E99F01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1433" y="1559859"/>
            <a:ext cx="2976284" cy="75946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7DDEC80-1323-40E5-87DD-30D0118EC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7866" y="4412323"/>
            <a:ext cx="6504536" cy="108619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3C7CC-947E-4B08-BC51-4804D101B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8" y="4412323"/>
            <a:ext cx="3200402" cy="98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16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1" y="350260"/>
            <a:ext cx="11214845" cy="734472"/>
          </a:xfrm>
        </p:spPr>
        <p:txBody>
          <a:bodyPr>
            <a:normAutofit/>
          </a:bodyPr>
          <a:lstStyle/>
          <a:p>
            <a:r>
              <a:rPr lang="ru-RU" dirty="0"/>
              <a:t>Преобразование типов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165412"/>
            <a:ext cx="11214847" cy="5271245"/>
          </a:xfrm>
        </p:spPr>
        <p:txBody>
          <a:bodyPr/>
          <a:lstStyle/>
          <a:p>
            <a:pPr marL="45720" indent="0">
              <a:buNone/>
            </a:pPr>
            <a:r>
              <a:rPr lang="ru-RU" dirty="0"/>
              <a:t>Преобразование в </a:t>
            </a:r>
            <a:r>
              <a:rPr lang="ru-RU" b="1" dirty="0" err="1"/>
              <a:t>bool</a:t>
            </a:r>
            <a:r>
              <a:rPr lang="ru-RU" b="1" dirty="0"/>
              <a:t>()</a:t>
            </a:r>
            <a:r>
              <a:rPr lang="ru-RU" dirty="0"/>
              <a:t> зависит от того, </a:t>
            </a:r>
            <a:r>
              <a:rPr lang="ru-RU" b="1" dirty="0"/>
              <a:t>пустая переменная или нет</a:t>
            </a:r>
            <a:r>
              <a:rPr lang="ru-RU" dirty="0"/>
              <a:t>:	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24</a:t>
            </a:fld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03F156A-4C2B-4B92-B407-75A740367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81" y="1662328"/>
            <a:ext cx="6460430" cy="234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757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D89D99-400F-4174-B9D8-4CE8D202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8682" y="861879"/>
            <a:ext cx="8390965" cy="734472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EBCA62-53A4-4FE3-87A7-0893225D0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1596351"/>
            <a:ext cx="11214847" cy="4840306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E19C9E-E90D-498A-9D00-23694FA68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62762" y="6187440"/>
            <a:ext cx="1706217" cy="365125"/>
          </a:xfrm>
        </p:spPr>
        <p:txBody>
          <a:bodyPr/>
          <a:lstStyle/>
          <a:p>
            <a:fld id="{F45998D0-A30C-4A17-A4B4-A9CB73FC8A8C}" type="slidenum">
              <a:rPr lang="ru-RU" sz="2400" smtClean="0"/>
              <a:t>25</a:t>
            </a:fld>
            <a:endParaRPr lang="ru-RU" sz="2000" dirty="0"/>
          </a:p>
        </p:txBody>
      </p:sp>
      <p:pic>
        <p:nvPicPr>
          <p:cNvPr id="7170" name="Picture 2" descr="Изображение пина-истории">
            <a:extLst>
              <a:ext uri="{FF2B5EF4-FFF2-40B4-BE49-F238E27FC236}">
                <a16:creationId xmlns:a16="http://schemas.microsoft.com/office/drawing/2014/main" id="{5285A1E7-0011-438F-9B89-C9EE21610D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92"/>
          <a:stretch/>
        </p:blipFill>
        <p:spPr bwMode="auto">
          <a:xfrm>
            <a:off x="3469341" y="2008093"/>
            <a:ext cx="4446494" cy="333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0348745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Синий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</TotalTime>
  <Words>1726</Words>
  <Application>Microsoft Office PowerPoint</Application>
  <PresentationFormat>Широкоэкранный</PresentationFormat>
  <Paragraphs>216</Paragraphs>
  <Slides>25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Arial</vt:lpstr>
      <vt:lpstr>Calibri</vt:lpstr>
      <vt:lpstr>Corbel</vt:lpstr>
      <vt:lpstr>Inter</vt:lpstr>
      <vt:lpstr>Базис</vt:lpstr>
      <vt:lpstr> Введение в программирование. </vt:lpstr>
      <vt:lpstr>Как компьютеры «понимают» нас?</vt:lpstr>
      <vt:lpstr>Как компьютеры «понимают» нас?</vt:lpstr>
      <vt:lpstr>Машинный код – язык, понятный компьютеру</vt:lpstr>
      <vt:lpstr>Языки программирования – посредник между человеком и машиной</vt:lpstr>
      <vt:lpstr>Презентация PowerPoint</vt:lpstr>
      <vt:lpstr>Что такое программирование?</vt:lpstr>
      <vt:lpstr>  Знакомство с Python.</vt:lpstr>
      <vt:lpstr>Python</vt:lpstr>
      <vt:lpstr>Интерпретируемый язык программирования</vt:lpstr>
      <vt:lpstr>Среда разработки — программа или сервис, которые переводят(интерпретируют или компилируют) код, который мы пишем.  </vt:lpstr>
      <vt:lpstr>Комментарии в Python</vt:lpstr>
      <vt:lpstr>Ввод и вывод данных в Python</vt:lpstr>
      <vt:lpstr>Ввод и вывод данных в Python</vt:lpstr>
      <vt:lpstr>Переменные в Python</vt:lpstr>
      <vt:lpstr>Переменные в Python</vt:lpstr>
      <vt:lpstr>Ввод и вывод данных в Python</vt:lpstr>
      <vt:lpstr>Переменные и данные в Python.</vt:lpstr>
      <vt:lpstr>Типы данных в Python</vt:lpstr>
      <vt:lpstr>Основные типы данных в Python</vt:lpstr>
      <vt:lpstr>Основные типы данных в Python</vt:lpstr>
      <vt:lpstr>Преобразование типов данных</vt:lpstr>
      <vt:lpstr>Преобразование типов данных</vt:lpstr>
      <vt:lpstr>Преобразование типов данных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Home</dc:creator>
  <cp:lastModifiedBy>Эля Ахметова</cp:lastModifiedBy>
  <cp:revision>20</cp:revision>
  <dcterms:created xsi:type="dcterms:W3CDTF">2026-01-16T14:49:53Z</dcterms:created>
  <dcterms:modified xsi:type="dcterms:W3CDTF">2026-01-16T23:35:59Z</dcterms:modified>
</cp:coreProperties>
</file>