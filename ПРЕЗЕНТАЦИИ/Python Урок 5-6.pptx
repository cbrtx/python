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37"/>
  </p:notesMasterIdLst>
  <p:sldIdLst>
    <p:sldId id="256" r:id="rId2"/>
    <p:sldId id="311" r:id="rId3"/>
    <p:sldId id="277" r:id="rId4"/>
    <p:sldId id="285" r:id="rId5"/>
    <p:sldId id="286" r:id="rId6"/>
    <p:sldId id="289" r:id="rId7"/>
    <p:sldId id="313" r:id="rId8"/>
    <p:sldId id="325" r:id="rId9"/>
    <p:sldId id="315" r:id="rId10"/>
    <p:sldId id="314" r:id="rId11"/>
    <p:sldId id="316" r:id="rId12"/>
    <p:sldId id="317" r:id="rId13"/>
    <p:sldId id="319" r:id="rId14"/>
    <p:sldId id="318" r:id="rId15"/>
    <p:sldId id="265" r:id="rId16"/>
    <p:sldId id="291" r:id="rId17"/>
    <p:sldId id="292" r:id="rId18"/>
    <p:sldId id="293" r:id="rId19"/>
    <p:sldId id="312" r:id="rId20"/>
    <p:sldId id="294" r:id="rId21"/>
    <p:sldId id="320" r:id="rId22"/>
    <p:sldId id="295" r:id="rId23"/>
    <p:sldId id="321" r:id="rId24"/>
    <p:sldId id="322" r:id="rId25"/>
    <p:sldId id="323" r:id="rId26"/>
    <p:sldId id="310" r:id="rId27"/>
    <p:sldId id="324" r:id="rId28"/>
    <p:sldId id="327" r:id="rId29"/>
    <p:sldId id="326" r:id="rId30"/>
    <p:sldId id="330" r:id="rId31"/>
    <p:sldId id="329" r:id="rId32"/>
    <p:sldId id="328" r:id="rId33"/>
    <p:sldId id="331" r:id="rId34"/>
    <p:sldId id="332" r:id="rId35"/>
    <p:sldId id="28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я Ахметова" initials="ЭА" lastIdx="1" clrIdx="0">
    <p:extLst>
      <p:ext uri="{19B8F6BF-5375-455C-9EA6-DF929625EA0E}">
        <p15:presenceInfo xmlns:p15="http://schemas.microsoft.com/office/powerpoint/2012/main" userId="12f8543c4a5474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C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CE2D-A7B0-475A-A5D6-970EC3A786A8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A89F7-B92F-48E2-B420-2B1BE318E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54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799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617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31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996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26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8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84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8631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766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421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453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103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269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038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98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912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464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4361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0042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91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202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861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03980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1394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5801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424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1388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6483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0097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0488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37901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9973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D79CDC-7481-4905-B89D-BAC893F0865C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4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514D-1245-4E5C-B6D4-9B8552181E0F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3C28-9F1E-4CB0-99B8-90A1A1A459F1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FFE7D-C938-4E28-99F3-06FA598F2CE2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AD02-81FD-476A-A934-39D412F6A534}" type="datetime1">
              <a:rPr lang="ru-RU" smtClean="0"/>
              <a:t>31.01.2026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88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77FD-3CDF-47B5-AF1A-B57779CA5927}" type="datetime1">
              <a:rPr lang="ru-RU" smtClean="0"/>
              <a:t>31.01.2026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15798-E941-4EE2-8787-B5189EEAAF58}" type="datetime1">
              <a:rPr lang="ru-RU" smtClean="0"/>
              <a:t>31.01.2026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6713-29C0-4399-A3E4-EA7F0F9B78B1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7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EFFD-468F-42E7-B3C0-333211D20C9A}" type="datetime1">
              <a:rPr lang="ru-RU" smtClean="0"/>
              <a:t>31.01.2026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9F8-DBFD-4AFF-AAE6-818567FEF22B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2395-D087-4CA9-A95A-0C6F05552BB6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035F01D-5557-4729-89DC-FC9FCEFE2C80}" type="datetime1">
              <a:rPr lang="ru-RU" smtClean="0"/>
              <a:t>31.01.2026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 Цикл </a:t>
            </a:r>
            <a:r>
              <a:rPr lang="en-US" b="0" i="0" cap="all" dirty="0">
                <a:solidFill>
                  <a:srgbClr val="FFFFFF"/>
                </a:solidFill>
                <a:effectLst/>
                <a:latin typeface="Inter"/>
              </a:rPr>
              <a:t>while </a:t>
            </a:r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в </a:t>
            </a:r>
            <a:r>
              <a:rPr lang="en-US" b="0" i="0" cap="all" dirty="0">
                <a:solidFill>
                  <a:srgbClr val="FFFFFF"/>
                </a:solidFill>
                <a:effectLst/>
                <a:latin typeface="Inter"/>
              </a:rPr>
              <a:t>Python. 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вспомним прошлый урок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</a:t>
            </a:fld>
            <a:endParaRPr lang="ru-RU" sz="2000" dirty="0"/>
          </a:p>
        </p:txBody>
      </p:sp>
      <p:pic>
        <p:nvPicPr>
          <p:cNvPr id="1026" name="Picture 2" descr="Изображение пина-истории">
            <a:extLst>
              <a:ext uri="{FF2B5EF4-FFF2-40B4-BE49-F238E27FC236}">
                <a16:creationId xmlns:a16="http://schemas.microsoft.com/office/drawing/2014/main" id="{297B28AE-4D4A-40E2-BE53-B580D70BB5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179" y="1235653"/>
            <a:ext cx="4766277" cy="527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415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Ввод и вывод данных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ru-RU" b="1" dirty="0" err="1">
                <a:solidFill>
                  <a:srgbClr val="FF0000"/>
                </a:solidFill>
              </a:rPr>
              <a:t>rint</a:t>
            </a:r>
            <a:r>
              <a:rPr lang="en-US" b="1" dirty="0">
                <a:solidFill>
                  <a:srgbClr val="FF0000"/>
                </a:solidFill>
              </a:rPr>
              <a:t>()</a:t>
            </a:r>
            <a:r>
              <a:rPr lang="ru-RU" b="1" dirty="0"/>
              <a:t> — </a:t>
            </a:r>
            <a:r>
              <a:rPr lang="ru-RU" dirty="0"/>
              <a:t>это команда, которая даёт компьютеру инструкцию: “Выведи что-то на экран”.</a:t>
            </a: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ru-RU" b="1" dirty="0" err="1">
                <a:solidFill>
                  <a:srgbClr val="FF0000"/>
                </a:solidFill>
              </a:rPr>
              <a:t>input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r>
              <a:rPr lang="ru-RU" dirty="0"/>
              <a:t>— команда, которая даёт возможность пользователю(нам) ввести данные в консоль.</a:t>
            </a: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ru-RU" b="1" dirty="0">
                <a:solidFill>
                  <a:srgbClr val="FF0000"/>
                </a:solidFill>
              </a:rPr>
              <a:t>Переменная </a:t>
            </a:r>
            <a:r>
              <a:rPr lang="ru-RU" dirty="0"/>
              <a:t>– это способ сохранить какую-то информацию в программе, чтобы можно было её потом использовать, изменить или показать.</a:t>
            </a:r>
            <a:endParaRPr lang="en-US" dirty="0"/>
          </a:p>
          <a:p>
            <a:pPr marL="45720" indent="0" algn="ctr">
              <a:buNone/>
            </a:pPr>
            <a:r>
              <a:rPr lang="ru-RU" sz="2000" b="1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ru-RU" sz="2000" b="1" dirty="0">
                <a:solidFill>
                  <a:schemeClr val="accent4">
                    <a:lumMod val="50000"/>
                  </a:schemeClr>
                </a:solidFill>
              </a:rPr>
              <a:t> = "Маша“</a:t>
            </a:r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pPr marL="45720" indent="0">
              <a:buNone/>
            </a:pPr>
            <a:r>
              <a:rPr lang="ru-RU" b="1" dirty="0" err="1">
                <a:solidFill>
                  <a:srgbClr val="FF0000"/>
                </a:solidFill>
              </a:rPr>
              <a:t>name</a:t>
            </a:r>
            <a:r>
              <a:rPr lang="ru-RU" dirty="0"/>
              <a:t> — имя переменной</a:t>
            </a:r>
            <a:r>
              <a:rPr lang="en-US" dirty="0"/>
              <a:t>, </a:t>
            </a:r>
            <a:r>
              <a:rPr lang="ru-RU" b="1" dirty="0"/>
              <a:t>«</a:t>
            </a:r>
            <a:r>
              <a:rPr lang="ru-RU" b="1" dirty="0">
                <a:solidFill>
                  <a:srgbClr val="FF0000"/>
                </a:solidFill>
              </a:rPr>
              <a:t>=</a:t>
            </a:r>
            <a:r>
              <a:rPr lang="ru-RU" b="1" dirty="0"/>
              <a:t>»</a:t>
            </a:r>
            <a:r>
              <a:rPr lang="ru-RU" dirty="0"/>
              <a:t> — знак присваивания</a:t>
            </a:r>
            <a:r>
              <a:rPr lang="en-US" dirty="0"/>
              <a:t>, </a:t>
            </a:r>
            <a:r>
              <a:rPr lang="ru-RU" b="1" dirty="0">
                <a:solidFill>
                  <a:srgbClr val="FF0000"/>
                </a:solidFill>
              </a:rPr>
              <a:t>«Маша»</a:t>
            </a:r>
            <a:r>
              <a:rPr lang="ru-RU" b="1" dirty="0"/>
              <a:t> </a:t>
            </a:r>
            <a:r>
              <a:rPr lang="ru-RU" dirty="0"/>
              <a:t>— значение, которое мы сохраняем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194A8E-3C55-4249-BB3C-217DB7E302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9" t="25818"/>
          <a:stretch/>
        </p:blipFill>
        <p:spPr>
          <a:xfrm>
            <a:off x="636491" y="1594166"/>
            <a:ext cx="8337179" cy="88548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A6C62D-6974-4DB9-A858-23EEFE5159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891" b="13541"/>
          <a:stretch/>
        </p:blipFill>
        <p:spPr>
          <a:xfrm>
            <a:off x="636492" y="3360988"/>
            <a:ext cx="6123918" cy="88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48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Основные типы данных </a:t>
            </a:r>
            <a:r>
              <a:rPr lang="ru-RU" dirty="0"/>
              <a:t>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331584"/>
          </a:xfrm>
        </p:spPr>
        <p:txBody>
          <a:bodyPr>
            <a:normAutofit/>
          </a:bodyPr>
          <a:lstStyle/>
          <a:p>
            <a:r>
              <a:rPr lang="ru-RU" sz="2400" b="1" dirty="0"/>
              <a:t>Строка </a:t>
            </a:r>
            <a:r>
              <a:rPr lang="en-US" sz="2400" b="1" dirty="0"/>
              <a:t>(str) </a:t>
            </a:r>
            <a:r>
              <a:rPr lang="ru-RU" sz="2400" dirty="0"/>
              <a:t>— это текст (от слова </a:t>
            </a:r>
            <a:r>
              <a:rPr lang="en-US" sz="2400" dirty="0"/>
              <a:t>string - </a:t>
            </a:r>
            <a:r>
              <a:rPr lang="ru-RU" sz="2400" dirty="0"/>
              <a:t>строка</a:t>
            </a:r>
            <a:r>
              <a:rPr lang="en-US" sz="2400" dirty="0"/>
              <a:t>)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Это всё, что находится внутри кавычек: ‘’, или “”. Даже числа в кавычках считаются строкой!</a:t>
            </a: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ru-RU" sz="2400" dirty="0"/>
          </a:p>
          <a:p>
            <a:r>
              <a:rPr lang="ru-RU" sz="2400" b="1" dirty="0"/>
              <a:t>Числа</a:t>
            </a:r>
          </a:p>
          <a:p>
            <a:pPr marL="45720" indent="0">
              <a:buNone/>
            </a:pPr>
            <a:r>
              <a:rPr lang="ru-RU" sz="2400" b="1" dirty="0" err="1"/>
              <a:t>int</a:t>
            </a:r>
            <a:r>
              <a:rPr lang="ru-RU" sz="2400" b="1" dirty="0"/>
              <a:t> </a:t>
            </a:r>
            <a:r>
              <a:rPr lang="ru-RU" sz="2400" dirty="0"/>
              <a:t>(от слова </a:t>
            </a:r>
            <a:r>
              <a:rPr lang="ru-RU" sz="2400" dirty="0" err="1"/>
              <a:t>integer</a:t>
            </a:r>
            <a:r>
              <a:rPr lang="ru-RU" sz="2400" dirty="0"/>
              <a:t> — целое число):</a:t>
            </a:r>
          </a:p>
          <a:p>
            <a:pPr marL="45720" indent="0">
              <a:buNone/>
            </a:pPr>
            <a:r>
              <a:rPr lang="ru-RU" sz="2400" b="1" dirty="0" err="1"/>
              <a:t>float</a:t>
            </a:r>
            <a:r>
              <a:rPr lang="ru-RU" sz="2400" b="1" dirty="0"/>
              <a:t> </a:t>
            </a:r>
            <a:r>
              <a:rPr lang="ru-RU" sz="2400" dirty="0"/>
              <a:t>(число с запятой, но в коде — с точкой): </a:t>
            </a:r>
            <a:endParaRPr lang="en-US" sz="2400" dirty="0"/>
          </a:p>
          <a:p>
            <a:r>
              <a:rPr lang="ru-RU" sz="2400" b="1" dirty="0"/>
              <a:t>Логический тип (</a:t>
            </a:r>
            <a:r>
              <a:rPr lang="ru-RU" sz="2400" b="1" dirty="0" err="1"/>
              <a:t>bool</a:t>
            </a:r>
            <a:r>
              <a:rPr lang="ru-RU" sz="2400" b="1" dirty="0"/>
              <a:t>) </a:t>
            </a:r>
            <a:r>
              <a:rPr lang="ru-RU" sz="2400" dirty="0"/>
              <a:t>— это правда или ложь</a:t>
            </a:r>
          </a:p>
          <a:p>
            <a:pPr marL="45720" indent="0">
              <a:buNone/>
            </a:pPr>
            <a:r>
              <a:rPr lang="ru-RU" sz="2400" dirty="0"/>
              <a:t>В Python есть два логических значения: </a:t>
            </a:r>
            <a:r>
              <a:rPr lang="ru-RU" sz="2400" b="1" dirty="0" err="1"/>
              <a:t>True</a:t>
            </a:r>
            <a:r>
              <a:rPr lang="ru-RU" sz="2400" b="1" dirty="0"/>
              <a:t> (правда)</a:t>
            </a:r>
            <a:r>
              <a:rPr lang="ru-RU" sz="2400" dirty="0"/>
              <a:t> и </a:t>
            </a:r>
            <a:r>
              <a:rPr lang="ru-RU" sz="2400" b="1" dirty="0" err="1"/>
              <a:t>False</a:t>
            </a:r>
            <a:r>
              <a:rPr lang="ru-RU" sz="2400" b="1" dirty="0"/>
              <a:t> (ложь)</a:t>
            </a:r>
            <a:r>
              <a:rPr lang="ru-RU" sz="2400" dirty="0"/>
              <a:t>. Они пишутся с заглавной буквы!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4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374DF8-AFE7-4889-945C-170BFAEDA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27" y="2406398"/>
            <a:ext cx="2276793" cy="9335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76372C-0F04-42B5-9A3A-662B6A9034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759"/>
          <a:stretch/>
        </p:blipFill>
        <p:spPr>
          <a:xfrm>
            <a:off x="5914353" y="4070214"/>
            <a:ext cx="1600423" cy="3135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662BB9D-310F-4B21-A52A-61734869B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987" y="4592154"/>
            <a:ext cx="1657581" cy="22863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CF87158-CC8E-4051-B14E-4CAD060F0D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491" b="9248"/>
          <a:stretch/>
        </p:blipFill>
        <p:spPr>
          <a:xfrm>
            <a:off x="7049307" y="5029199"/>
            <a:ext cx="1888506" cy="51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32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Математические операции</a:t>
            </a:r>
            <a:endParaRPr lang="en-US" sz="44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33158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+</a:t>
            </a:r>
            <a:r>
              <a:rPr lang="ru-RU" sz="3200" b="1" dirty="0"/>
              <a:t> </a:t>
            </a:r>
            <a:r>
              <a:rPr lang="ru-RU" sz="3200" dirty="0"/>
              <a:t>— сложение</a:t>
            </a:r>
          </a:p>
          <a:p>
            <a:r>
              <a:rPr lang="ru-RU" sz="3200" b="1" dirty="0">
                <a:solidFill>
                  <a:srgbClr val="FF0000"/>
                </a:solidFill>
              </a:rPr>
              <a:t>-</a:t>
            </a:r>
            <a:r>
              <a:rPr lang="ru-RU" sz="3200" b="1" dirty="0"/>
              <a:t> </a:t>
            </a:r>
            <a:r>
              <a:rPr lang="ru-RU" sz="3200" dirty="0"/>
              <a:t>— вычитание</a:t>
            </a:r>
          </a:p>
          <a:p>
            <a:r>
              <a:rPr lang="ru-RU" sz="3200" b="1" dirty="0">
                <a:solidFill>
                  <a:srgbClr val="FF0000"/>
                </a:solidFill>
              </a:rPr>
              <a:t>*</a:t>
            </a:r>
            <a:r>
              <a:rPr lang="ru-RU" sz="3200" b="1" dirty="0"/>
              <a:t> </a:t>
            </a:r>
            <a:r>
              <a:rPr lang="ru-RU" sz="3200" dirty="0"/>
              <a:t>— умножение</a:t>
            </a:r>
          </a:p>
          <a:p>
            <a:r>
              <a:rPr lang="en-US" sz="3200" dirty="0">
                <a:solidFill>
                  <a:srgbClr val="FF0000"/>
                </a:solidFill>
              </a:rPr>
              <a:t>/</a:t>
            </a:r>
            <a:r>
              <a:rPr lang="en-US" sz="3200" dirty="0"/>
              <a:t> </a:t>
            </a:r>
            <a:r>
              <a:rPr lang="ru-RU" sz="3200" dirty="0"/>
              <a:t>— деление с остатком( результатом деления всегда будет дробное число (тип </a:t>
            </a:r>
            <a:r>
              <a:rPr lang="ru-RU" sz="3200" dirty="0" err="1"/>
              <a:t>float</a:t>
            </a:r>
            <a:r>
              <a:rPr lang="ru-RU" sz="3200" dirty="0"/>
              <a:t>), даже если всё делится без остатка) например </a:t>
            </a:r>
            <a:r>
              <a:rPr lang="en-US" sz="3200" b="1" dirty="0"/>
              <a:t>2/4= 0,5     2/2=1.00</a:t>
            </a:r>
            <a:endParaRPr lang="ru-RU" sz="3200" b="1" dirty="0"/>
          </a:p>
          <a:p>
            <a:r>
              <a:rPr lang="en-US" sz="3200" b="1" dirty="0">
                <a:solidFill>
                  <a:srgbClr val="FF0000"/>
                </a:solidFill>
              </a:rPr>
              <a:t>// </a:t>
            </a:r>
            <a:r>
              <a:rPr lang="ru-RU" sz="3200" dirty="0"/>
              <a:t> — деление без остатка( результатом деления всегда будет дробное число (тип </a:t>
            </a:r>
            <a:r>
              <a:rPr lang="ru-RU" sz="3200" dirty="0" err="1"/>
              <a:t>float</a:t>
            </a:r>
            <a:r>
              <a:rPr lang="ru-RU" sz="3200" dirty="0"/>
              <a:t>), даже если всё делится без остатка) например  </a:t>
            </a:r>
            <a:r>
              <a:rPr lang="en-US" sz="3200" b="1" dirty="0"/>
              <a:t>2/4=0     2/2=1</a:t>
            </a:r>
            <a:r>
              <a:rPr lang="ru-RU" sz="3200" b="1" dirty="0"/>
              <a:t> то есть берем всё что до запятой</a:t>
            </a:r>
            <a:endParaRPr lang="en-US" sz="3200" b="1" dirty="0"/>
          </a:p>
          <a:p>
            <a:pPr marL="45720" indent="0">
              <a:buNone/>
            </a:pPr>
            <a:endParaRPr lang="en-US" sz="2400" dirty="0"/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5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4786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Преобразование типов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/>
          <a:lstStyle/>
          <a:p>
            <a:pPr marL="45720" indent="0">
              <a:buNone/>
            </a:pPr>
            <a:r>
              <a:rPr lang="ru-RU" dirty="0"/>
              <a:t>Такие команды «переводчики» есть у каждого типа данных : </a:t>
            </a:r>
            <a:r>
              <a:rPr lang="ru-RU" b="1" dirty="0" err="1">
                <a:solidFill>
                  <a:srgbClr val="FF0000"/>
                </a:solidFill>
              </a:rPr>
              <a:t>int</a:t>
            </a:r>
            <a:r>
              <a:rPr lang="ru-RU" b="1" dirty="0">
                <a:solidFill>
                  <a:srgbClr val="FF0000"/>
                </a:solidFill>
              </a:rPr>
              <a:t>(), </a:t>
            </a:r>
            <a:r>
              <a:rPr lang="ru-RU" b="1" dirty="0" err="1">
                <a:solidFill>
                  <a:srgbClr val="FF0000"/>
                </a:solidFill>
              </a:rPr>
              <a:t>float</a:t>
            </a:r>
            <a:r>
              <a:rPr lang="ru-RU" b="1" dirty="0">
                <a:solidFill>
                  <a:srgbClr val="FF0000"/>
                </a:solidFill>
              </a:rPr>
              <a:t>(), </a:t>
            </a:r>
            <a:r>
              <a:rPr lang="ru-RU" b="1" dirty="0" err="1">
                <a:solidFill>
                  <a:srgbClr val="FF0000"/>
                </a:solidFill>
              </a:rPr>
              <a:t>str</a:t>
            </a:r>
            <a:r>
              <a:rPr lang="ru-RU" b="1" dirty="0">
                <a:solidFill>
                  <a:srgbClr val="FF0000"/>
                </a:solidFill>
              </a:rPr>
              <a:t>()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/>
              <a:t>и т.д.</a:t>
            </a: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input</a:t>
            </a:r>
            <a:r>
              <a:rPr lang="ru-RU" sz="3200" b="1" dirty="0">
                <a:solidFill>
                  <a:srgbClr val="FF0000"/>
                </a:solidFill>
              </a:rPr>
              <a:t>() </a:t>
            </a:r>
            <a:r>
              <a:rPr lang="ru-RU" sz="3200" b="1" dirty="0">
                <a:solidFill>
                  <a:srgbClr val="FFC000"/>
                </a:solidFill>
              </a:rPr>
              <a:t>ВСЕГДА</a:t>
            </a:r>
            <a:r>
              <a:rPr lang="ru-RU" sz="3200" b="1" dirty="0"/>
              <a:t> </a:t>
            </a:r>
            <a:r>
              <a:rPr lang="ru-RU" sz="3200" dirty="0"/>
              <a:t>принимает значение </a:t>
            </a:r>
            <a:r>
              <a:rPr lang="en-US" sz="3200" b="1" dirty="0">
                <a:solidFill>
                  <a:srgbClr val="FF0000"/>
                </a:solidFill>
              </a:rPr>
              <a:t>str</a:t>
            </a:r>
            <a:r>
              <a:rPr lang="en-US" sz="3200" dirty="0"/>
              <a:t> </a:t>
            </a:r>
            <a:r>
              <a:rPr lang="ru-RU" sz="3200" dirty="0"/>
              <a:t>строки, даже если вы ввели число</a:t>
            </a:r>
            <a:br>
              <a:rPr lang="ru-RU" sz="3200" dirty="0"/>
            </a:br>
            <a:r>
              <a:rPr lang="ru-RU" sz="3200" dirty="0"/>
              <a:t>А со строками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0000"/>
                </a:solidFill>
              </a:rPr>
              <a:t>str</a:t>
            </a:r>
            <a:r>
              <a:rPr lang="ru-RU" sz="3200" dirty="0"/>
              <a:t> </a:t>
            </a:r>
            <a:r>
              <a:rPr lang="ru-RU" sz="3200" b="1" dirty="0">
                <a:solidFill>
                  <a:srgbClr val="FFC000"/>
                </a:solidFill>
              </a:rPr>
              <a:t>НЕЛЬЗЯ</a:t>
            </a:r>
            <a:r>
              <a:rPr lang="ru-RU" sz="3200" dirty="0"/>
              <a:t> производить </a:t>
            </a:r>
            <a:r>
              <a:rPr lang="ru-RU" sz="3200" b="1" dirty="0">
                <a:solidFill>
                  <a:srgbClr val="FFC000"/>
                </a:solidFill>
              </a:rPr>
              <a:t>математические операции </a:t>
            </a:r>
            <a:r>
              <a:rPr lang="ru-RU" sz="3200" b="1" dirty="0">
                <a:solidFill>
                  <a:srgbClr val="0F6FC6"/>
                </a:solidFill>
              </a:rPr>
              <a:t>(</a:t>
            </a:r>
            <a:r>
              <a:rPr lang="ru-RU" sz="3200" b="1" dirty="0">
                <a:solidFill>
                  <a:srgbClr val="FF0000"/>
                </a:solidFill>
              </a:rPr>
              <a:t>+ - * </a:t>
            </a:r>
            <a:r>
              <a:rPr lang="en-US" sz="3200" b="1" dirty="0">
                <a:solidFill>
                  <a:srgbClr val="FF0000"/>
                </a:solidFill>
              </a:rPr>
              <a:t>/</a:t>
            </a:r>
            <a:r>
              <a:rPr lang="en-US" sz="3200" b="1" dirty="0">
                <a:solidFill>
                  <a:srgbClr val="0F6FC6"/>
                </a:solidFill>
              </a:rPr>
              <a:t>)</a:t>
            </a:r>
            <a:r>
              <a:rPr lang="ru-RU" sz="3200" b="1" dirty="0">
                <a:solidFill>
                  <a:srgbClr val="0F6FC6"/>
                </a:solidFill>
              </a:rPr>
              <a:t> </a:t>
            </a:r>
            <a:r>
              <a:rPr lang="en-US" sz="3200" b="1" dirty="0">
                <a:solidFill>
                  <a:srgbClr val="0F6FC6"/>
                </a:solidFill>
              </a:rPr>
              <a:t> </a:t>
            </a:r>
            <a:endParaRPr lang="ru-RU" sz="3200" b="1" dirty="0">
              <a:solidFill>
                <a:srgbClr val="0F6FC6"/>
              </a:solidFill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6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5686C6-BF5F-4DAC-A21B-D3F03564B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87"/>
          <a:stretch/>
        </p:blipFill>
        <p:spPr>
          <a:xfrm>
            <a:off x="708210" y="1559860"/>
            <a:ext cx="4930590" cy="108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1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Условные конструкции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Это способ заставить программу </a:t>
            </a:r>
            <a:r>
              <a:rPr lang="ru-RU" sz="2400" b="1" dirty="0"/>
              <a:t>делать определенные действия</a:t>
            </a:r>
            <a:r>
              <a:rPr lang="ru-RU" sz="2400" dirty="0"/>
              <a:t> если </a:t>
            </a:r>
            <a:r>
              <a:rPr lang="ru-RU" sz="2400" b="1" dirty="0"/>
              <a:t>условие выполняется (Истина) или не выполняется (Ложь)</a:t>
            </a:r>
          </a:p>
          <a:p>
            <a:pPr marL="45720" indent="0">
              <a:buNone/>
            </a:pPr>
            <a:r>
              <a:rPr lang="ru-RU" sz="2400" b="1" dirty="0"/>
              <a:t>Ключевая структура: </a:t>
            </a:r>
            <a:r>
              <a:rPr lang="en-US" sz="2400" b="1" dirty="0">
                <a:solidFill>
                  <a:srgbClr val="FF0000"/>
                </a:solidFill>
              </a:rPr>
              <a:t>if-</a:t>
            </a:r>
            <a:r>
              <a:rPr lang="en-US" sz="2400" b="1" dirty="0" err="1">
                <a:solidFill>
                  <a:srgbClr val="FF0000"/>
                </a:solidFill>
              </a:rPr>
              <a:t>elif</a:t>
            </a:r>
            <a:r>
              <a:rPr lang="en-US" sz="2400" b="1" dirty="0">
                <a:solidFill>
                  <a:srgbClr val="FF0000"/>
                </a:solidFill>
              </a:rPr>
              <a:t>-else</a:t>
            </a:r>
            <a:endParaRPr lang="ru-RU" sz="2400" b="1" dirty="0">
              <a:solidFill>
                <a:srgbClr val="FF0000"/>
              </a:solidFill>
            </a:endParaRPr>
          </a:p>
          <a:p>
            <a:pPr marL="45720" indent="0">
              <a:buNone/>
            </a:pPr>
            <a:r>
              <a:rPr lang="ru-RU" sz="2400" b="1" dirty="0"/>
              <a:t>Синтаксис конструкции </a:t>
            </a:r>
            <a:r>
              <a:rPr lang="en-US" sz="2400" b="1" dirty="0"/>
              <a:t>if-</a:t>
            </a:r>
            <a:r>
              <a:rPr lang="en-US" sz="2400" b="1" dirty="0" err="1"/>
              <a:t>elif</a:t>
            </a:r>
            <a:r>
              <a:rPr lang="en-US" sz="2400" b="1" dirty="0"/>
              <a:t>-else</a:t>
            </a:r>
            <a:endParaRPr lang="ru-RU" sz="2400" b="1" dirty="0"/>
          </a:p>
          <a:p>
            <a:pPr marL="45720" indent="0">
              <a:buNone/>
            </a:pPr>
            <a:endParaRPr lang="ru-RU" sz="2400" b="1" dirty="0"/>
          </a:p>
          <a:p>
            <a:pPr marL="45720" indent="0">
              <a:buNone/>
            </a:pPr>
            <a:endParaRPr lang="ru-RU" sz="24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7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DD0E20-E37A-4584-932B-FF496E729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92" y="2991937"/>
            <a:ext cx="8862098" cy="332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02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Операции сравнения: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r>
              <a:rPr lang="ru-RU" sz="4400" b="1" dirty="0">
                <a:solidFill>
                  <a:srgbClr val="FF0000"/>
                </a:solidFill>
              </a:rPr>
              <a:t>&gt;</a:t>
            </a:r>
            <a:r>
              <a:rPr lang="ru-RU" sz="4400" b="1" dirty="0"/>
              <a:t> </a:t>
            </a:r>
            <a:r>
              <a:rPr lang="ru-RU" sz="4400" dirty="0"/>
              <a:t>(больше)</a:t>
            </a:r>
          </a:p>
          <a:p>
            <a:r>
              <a:rPr lang="ru-RU" sz="4400" b="1" dirty="0">
                <a:solidFill>
                  <a:srgbClr val="FF0000"/>
                </a:solidFill>
              </a:rPr>
              <a:t>&lt;</a:t>
            </a:r>
            <a:r>
              <a:rPr lang="ru-RU" sz="4400" b="1" dirty="0"/>
              <a:t> </a:t>
            </a:r>
            <a:r>
              <a:rPr lang="ru-RU" sz="4400" dirty="0"/>
              <a:t>(меньше)</a:t>
            </a:r>
          </a:p>
          <a:p>
            <a:r>
              <a:rPr lang="ru-RU" sz="4400" b="1" dirty="0">
                <a:solidFill>
                  <a:srgbClr val="FF0000"/>
                </a:solidFill>
              </a:rPr>
              <a:t>&gt;=</a:t>
            </a:r>
            <a:r>
              <a:rPr lang="ru-RU" sz="4400" dirty="0"/>
              <a:t> (больше или равно)</a:t>
            </a:r>
          </a:p>
          <a:p>
            <a:r>
              <a:rPr lang="ru-RU" sz="4400" b="1" dirty="0">
                <a:solidFill>
                  <a:srgbClr val="FF0000"/>
                </a:solidFill>
              </a:rPr>
              <a:t>&lt;=</a:t>
            </a:r>
            <a:r>
              <a:rPr lang="ru-RU" sz="4400" dirty="0"/>
              <a:t> (меньше или равно)</a:t>
            </a:r>
          </a:p>
          <a:p>
            <a:r>
              <a:rPr lang="ru-RU" sz="4400" b="1" dirty="0">
                <a:solidFill>
                  <a:srgbClr val="FF0000"/>
                </a:solidFill>
              </a:rPr>
              <a:t>==</a:t>
            </a:r>
            <a:r>
              <a:rPr lang="ru-RU" sz="4400" dirty="0"/>
              <a:t> (равно)</a:t>
            </a:r>
          </a:p>
          <a:p>
            <a:r>
              <a:rPr lang="ru-RU" sz="4400" b="1" dirty="0">
                <a:solidFill>
                  <a:srgbClr val="FF0000"/>
                </a:solidFill>
              </a:rPr>
              <a:t>!=</a:t>
            </a:r>
            <a:r>
              <a:rPr lang="ru-RU" sz="4400" dirty="0"/>
              <a:t> (не равно)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8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12516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логических операторов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Autofit/>
          </a:bodyPr>
          <a:lstStyle/>
          <a:p>
            <a:pPr marL="33120" indent="0">
              <a:spcBef>
                <a:spcPts val="600"/>
              </a:spcBef>
              <a:buNone/>
            </a:pPr>
            <a:r>
              <a:rPr lang="ru-RU" sz="3200" b="1" dirty="0" err="1">
                <a:solidFill>
                  <a:srgbClr val="FF0000"/>
                </a:solidFill>
              </a:rPr>
              <a:t>and</a:t>
            </a:r>
            <a:r>
              <a:rPr lang="ru-RU" sz="3200" dirty="0"/>
              <a:t> — логическое «</a:t>
            </a:r>
            <a:r>
              <a:rPr lang="ru-RU" sz="3200" b="1" dirty="0">
                <a:solidFill>
                  <a:srgbClr val="FF0000"/>
                </a:solidFill>
              </a:rPr>
              <a:t>И</a:t>
            </a:r>
            <a:r>
              <a:rPr lang="ru-RU" sz="3200" dirty="0"/>
              <a:t>»: условие истинно, если истинны оба выражения.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9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3D27CA-5FF3-4B7D-9559-E2B3ACD14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97" y="2088140"/>
            <a:ext cx="4516576" cy="13408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33CCE21-6474-4AEC-95CE-067D17607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97" y="3631989"/>
            <a:ext cx="4913745" cy="135094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1A88448-DD8D-44A5-B8AE-A14F915B3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398" y="2243120"/>
            <a:ext cx="4697762" cy="103089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9BC9371-0869-44B5-89B4-5855839EE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706" y="3952040"/>
            <a:ext cx="4626469" cy="103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логических операторов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Autofit/>
          </a:bodyPr>
          <a:lstStyle/>
          <a:p>
            <a:pPr marL="33120" indent="0">
              <a:spcBef>
                <a:spcPts val="1200"/>
              </a:spcBef>
              <a:buNone/>
            </a:pPr>
            <a:r>
              <a:rPr lang="ru-RU" sz="3200" b="1" dirty="0" err="1">
                <a:solidFill>
                  <a:srgbClr val="FF0000"/>
                </a:solidFill>
              </a:rPr>
              <a:t>or</a:t>
            </a:r>
            <a:r>
              <a:rPr lang="ru-RU" sz="3200" dirty="0"/>
              <a:t> — логическое «</a:t>
            </a:r>
            <a:r>
              <a:rPr lang="ru-RU" sz="3200" b="1" dirty="0">
                <a:solidFill>
                  <a:srgbClr val="FF0000"/>
                </a:solidFill>
              </a:rPr>
              <a:t>ИЛИ</a:t>
            </a:r>
            <a:r>
              <a:rPr lang="ru-RU" sz="3200" dirty="0"/>
              <a:t>»: условие истинно, если истинно хотя бы одно выражение.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10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0BC87DC-BE73-493D-BCA6-E0A0FE91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69" y="4232609"/>
            <a:ext cx="4502927" cy="10733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4887905-A823-4D6C-9FEA-0FEA9B93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18769"/>
            <a:ext cx="5220922" cy="116328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4C0D00-072E-4038-8F11-D6FAC42E0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5" y="4363091"/>
            <a:ext cx="5485758" cy="107330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23B1257-6494-4E6F-B90F-752F3146FE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855" y="2959288"/>
            <a:ext cx="4933923" cy="116328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035E19-51D9-48BC-B86E-8FF4433AC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9023" y="2965584"/>
            <a:ext cx="843265" cy="66965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77AC9FD-8AAA-4F6B-8D1F-4B8F8C9E0D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886" y="2798608"/>
            <a:ext cx="793826" cy="63039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1857BB9-412B-4265-BFA8-DFAC1CE17D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9671" y="4454063"/>
            <a:ext cx="793826" cy="63039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AFD6CC7-593B-480E-B052-4D2682E044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588" y="4336616"/>
            <a:ext cx="879124" cy="6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85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Использование логических операторов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Autofit/>
          </a:bodyPr>
          <a:lstStyle/>
          <a:p>
            <a:pPr marL="33120" indent="0">
              <a:spcBef>
                <a:spcPts val="1200"/>
              </a:spcBef>
              <a:buNone/>
            </a:pPr>
            <a:r>
              <a:rPr lang="ru-RU" sz="3200" b="1" dirty="0" err="1">
                <a:solidFill>
                  <a:srgbClr val="FF0000"/>
                </a:solidFill>
              </a:rPr>
              <a:t>not</a:t>
            </a:r>
            <a:r>
              <a:rPr lang="ru-RU" sz="3200" dirty="0"/>
              <a:t> — логическое «</a:t>
            </a:r>
            <a:r>
              <a:rPr lang="ru-RU" sz="3200" b="1" dirty="0">
                <a:solidFill>
                  <a:srgbClr val="FF0000"/>
                </a:solidFill>
              </a:rPr>
              <a:t>НЕ</a:t>
            </a:r>
            <a:r>
              <a:rPr lang="ru-RU" sz="3200" dirty="0"/>
              <a:t>»: инвертирует результат (истинное становится ложным и наоборот).</a:t>
            </a:r>
            <a:endParaRPr lang="en-US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11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4F71D2-75BC-439A-B500-68BF3B10A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85" y="2488077"/>
            <a:ext cx="4775863" cy="32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36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Что такое цикл?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/>
              <a:t>Цикл</a:t>
            </a:r>
            <a:r>
              <a:rPr lang="en-US" sz="2400" b="1" dirty="0"/>
              <a:t> </a:t>
            </a:r>
            <a:r>
              <a:rPr lang="en-US" sz="2400" dirty="0"/>
              <a:t>– </a:t>
            </a:r>
            <a:r>
              <a:rPr lang="ru-RU" sz="2400" dirty="0"/>
              <a:t>выполнение действия несколько раз автоматически.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for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используется, когда мы знаем, </a:t>
            </a:r>
            <a:r>
              <a:rPr lang="ru-RU" sz="2400" b="1" dirty="0"/>
              <a:t>сколько раз нужно повторить действие</a:t>
            </a:r>
            <a:r>
              <a:rPr lang="ru-RU" sz="2400" dirty="0"/>
              <a:t>, или хотим пройтись по набору элементов.</a:t>
            </a:r>
          </a:p>
          <a:p>
            <a:pPr marL="45720" indent="0">
              <a:buNone/>
            </a:pPr>
            <a:r>
              <a:rPr lang="ru-RU" sz="2400" dirty="0"/>
              <a:t>Простая структура цикла </a:t>
            </a:r>
            <a:r>
              <a:rPr lang="en-US" sz="2400" b="1" dirty="0">
                <a:solidFill>
                  <a:srgbClr val="FF0000"/>
                </a:solidFill>
              </a:rPr>
              <a:t>for</a:t>
            </a:r>
            <a:r>
              <a:rPr lang="en-US" sz="2400" dirty="0"/>
              <a:t>: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F8AFF6-33D9-4E1F-903D-50CBC5651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76" y="3342852"/>
            <a:ext cx="6434907" cy="121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06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3" y="350260"/>
            <a:ext cx="11349314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Цикл </a:t>
            </a:r>
            <a:r>
              <a:rPr lang="en-US" sz="4400" dirty="0"/>
              <a:t>for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range</a:t>
            </a:r>
            <a:r>
              <a:rPr lang="ru-RU" sz="2400" b="1" dirty="0">
                <a:solidFill>
                  <a:srgbClr val="FF0000"/>
                </a:solidFill>
              </a:rPr>
              <a:t>() </a:t>
            </a:r>
            <a:r>
              <a:rPr lang="ru-RU" sz="2400" dirty="0"/>
              <a:t>–это функция, которая создаёт последовательность чисел. 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range</a:t>
            </a:r>
            <a:r>
              <a:rPr lang="en-US" sz="2400" b="1" dirty="0"/>
              <a:t>(</a:t>
            </a:r>
            <a:r>
              <a:rPr lang="ru-RU" sz="2400" b="1" dirty="0">
                <a:solidFill>
                  <a:schemeClr val="accent5">
                    <a:lumMod val="75000"/>
                  </a:schemeClr>
                </a:solidFill>
              </a:rPr>
              <a:t>СТАРТ</a:t>
            </a:r>
            <a:r>
              <a:rPr lang="ru-RU" sz="2400" b="1" dirty="0"/>
              <a:t>, </a:t>
            </a:r>
            <a:r>
              <a:rPr lang="ru-RU" sz="2400" b="1" dirty="0">
                <a:solidFill>
                  <a:srgbClr val="7030A0"/>
                </a:solidFill>
              </a:rPr>
              <a:t>СТОП</a:t>
            </a:r>
            <a:r>
              <a:rPr lang="ru-RU" sz="2400" b="1" dirty="0"/>
              <a:t>, </a:t>
            </a:r>
            <a:r>
              <a:rPr lang="ru-RU" sz="2400" b="1" dirty="0">
                <a:solidFill>
                  <a:srgbClr val="FFC000"/>
                </a:solidFill>
              </a:rPr>
              <a:t>ШАГ</a:t>
            </a:r>
            <a:r>
              <a:rPr lang="ru-RU" sz="2400" b="1" dirty="0"/>
              <a:t>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92D050"/>
                </a:solidFill>
              </a:rPr>
              <a:t>СТАРТ</a:t>
            </a:r>
            <a:r>
              <a:rPr lang="ru-RU" sz="2400" dirty="0"/>
              <a:t>»— с какого числа начать (по умолчанию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ru-RU" sz="2400" dirty="0"/>
              <a:t>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7030A0"/>
                </a:solidFill>
              </a:rPr>
              <a:t>СТОП</a:t>
            </a:r>
            <a:r>
              <a:rPr lang="ru-RU" sz="2400" dirty="0"/>
              <a:t>»— до какого числа идти (не включая его!)</a:t>
            </a:r>
          </a:p>
          <a:p>
            <a:pPr marL="45720" indent="0">
              <a:buNone/>
            </a:pPr>
            <a:r>
              <a:rPr lang="ru-RU" sz="2400" dirty="0"/>
              <a:t>«</a:t>
            </a:r>
            <a:r>
              <a:rPr lang="ru-RU" sz="2400" b="1" dirty="0">
                <a:solidFill>
                  <a:srgbClr val="FFC000"/>
                </a:solidFill>
              </a:rPr>
              <a:t>ШАГ</a:t>
            </a:r>
            <a:r>
              <a:rPr lang="ru-RU" sz="2400" dirty="0"/>
              <a:t>»— на сколько увеличивать (или уменьшать) каждое следующее число (по умолчанию +1)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13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D9CD1E-779B-4D4B-9058-65D9774C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4" y="1612663"/>
            <a:ext cx="5072329" cy="147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084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/>
              <a:t>Переходим к теме урока</a:t>
            </a:r>
            <a:endParaRPr lang="ru-RU" sz="4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14</a:t>
            </a:fld>
            <a:endParaRPr lang="ru-RU" sz="2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FDE233-2C3E-463E-904F-F7A3B7007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 descr="Изображение пина-истории">
            <a:extLst>
              <a:ext uri="{FF2B5EF4-FFF2-40B4-BE49-F238E27FC236}">
                <a16:creationId xmlns:a16="http://schemas.microsoft.com/office/drawing/2014/main" id="{5A0DE8CD-79A1-4068-9A89-8D45F150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296" y="1371310"/>
            <a:ext cx="4418198" cy="488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94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Что такое цикл </a:t>
            </a:r>
            <a:r>
              <a:rPr lang="en-US" sz="4400" dirty="0"/>
              <a:t>while?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Цикл </a:t>
            </a:r>
            <a:r>
              <a:rPr lang="ru-RU" sz="2400" b="1" dirty="0" err="1">
                <a:solidFill>
                  <a:srgbClr val="FF0000"/>
                </a:solidFill>
              </a:rPr>
              <a:t>while</a:t>
            </a:r>
            <a:r>
              <a:rPr lang="ru-RU" sz="2400" dirty="0"/>
              <a:t> выполняет действия </a:t>
            </a:r>
            <a:r>
              <a:rPr lang="ru-RU" sz="2400" b="1" dirty="0"/>
              <a:t>пока выполняется условие</a:t>
            </a:r>
            <a:r>
              <a:rPr lang="ru-RU" sz="2400" dirty="0"/>
              <a:t>.</a:t>
            </a:r>
          </a:p>
          <a:p>
            <a:pPr marL="45720" indent="0">
              <a:buNone/>
            </a:pPr>
            <a:r>
              <a:rPr lang="ru-RU" sz="2400" dirty="0"/>
              <a:t>Мы </a:t>
            </a:r>
            <a:r>
              <a:rPr lang="ru-RU" sz="2400" b="1" dirty="0"/>
              <a:t>не всегда знаем заранее</a:t>
            </a:r>
            <a:r>
              <a:rPr lang="ru-RU" sz="2400" dirty="0"/>
              <a:t>, сколько раз придётся повторить действия — цикл сам будет проверять условие </a:t>
            </a:r>
            <a:r>
              <a:rPr lang="ru-RU" sz="2400" b="1" dirty="0"/>
              <a:t>каждый раз перед выполнением</a:t>
            </a:r>
            <a:r>
              <a:rPr lang="ru-RU" sz="2400" dirty="0"/>
              <a:t>.</a:t>
            </a:r>
          </a:p>
          <a:p>
            <a:pPr marL="45720" indent="0">
              <a:buNone/>
            </a:pPr>
            <a:r>
              <a:rPr lang="ru-RU" sz="2400" b="1" dirty="0"/>
              <a:t>Ключевая структура </a:t>
            </a:r>
            <a:r>
              <a:rPr lang="en-US" sz="2400" b="1" dirty="0">
                <a:solidFill>
                  <a:srgbClr val="FF0000"/>
                </a:solidFill>
              </a:rPr>
              <a:t>while</a:t>
            </a:r>
            <a:r>
              <a:rPr lang="ru-RU" sz="2400" b="1" dirty="0"/>
              <a:t>: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15</a:t>
            </a:fld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3A5D8F-0D75-4F28-8179-3016BF66E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33" y="3061922"/>
            <a:ext cx="8163074" cy="304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91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Потом попробуйте написать </a:t>
            </a:r>
            <a:r>
              <a:rPr lang="ru-RU" sz="2400" b="1" dirty="0"/>
              <a:t>то же самое </a:t>
            </a:r>
            <a:r>
              <a:rPr lang="ru-RU" sz="2400" dirty="0"/>
              <a:t>с помощью цикла </a:t>
            </a:r>
            <a:r>
              <a:rPr lang="en-US" sz="2400" b="1" dirty="0"/>
              <a:t>for</a:t>
            </a:r>
            <a:endParaRPr lang="ru-RU" sz="2400" b="1" dirty="0"/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16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FE3DD0-F3BD-49D1-A02B-9A7B2B545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3" y="1084732"/>
            <a:ext cx="5867084" cy="474496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11C5C1-8CEF-48BF-A093-5A6820B221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233"/>
          <a:stretch/>
        </p:blipFill>
        <p:spPr>
          <a:xfrm>
            <a:off x="6948897" y="1084732"/>
            <a:ext cx="3512914" cy="372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60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Важные правила для цикла </a:t>
            </a:r>
            <a:r>
              <a:rPr lang="ru-RU" sz="4400" dirty="0" err="1"/>
              <a:t>while</a:t>
            </a:r>
            <a:r>
              <a:rPr lang="ru-RU" sz="4400" dirty="0"/>
              <a:t>: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r>
              <a:rPr lang="ru-RU" sz="2400" b="1" dirty="0"/>
              <a:t>Условие должно изменяться! </a:t>
            </a:r>
          </a:p>
          <a:p>
            <a:pPr marL="45720" indent="0">
              <a:buNone/>
            </a:pPr>
            <a:r>
              <a:rPr lang="ru-RU" sz="2400" dirty="0"/>
              <a:t>Иначе получится бесконечный цикл, который никогда не остановится.</a:t>
            </a:r>
          </a:p>
          <a:p>
            <a:r>
              <a:rPr lang="ru-RU" sz="2400" b="1" dirty="0"/>
              <a:t>Контролируйте переменные внутри цикла.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17</a:t>
            </a:fld>
            <a:endParaRPr lang="ru-RU" sz="2000" dirty="0"/>
          </a:p>
        </p:txBody>
      </p:sp>
      <p:pic>
        <p:nvPicPr>
          <p:cNvPr id="2050" name="Picture 2" descr="Изображение пина-истории">
            <a:extLst>
              <a:ext uri="{FF2B5EF4-FFF2-40B4-BE49-F238E27FC236}">
                <a16:creationId xmlns:a16="http://schemas.microsoft.com/office/drawing/2014/main" id="{8F4AC15D-6D85-45ED-85E7-812E44E6B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8540" y="3092821"/>
            <a:ext cx="3170423" cy="317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072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3" y="348149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Как ещё можно использовать </a:t>
            </a:r>
            <a:r>
              <a:rPr lang="ru-RU" sz="4400" dirty="0" err="1"/>
              <a:t>while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Программа которая ждет ответ «да»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18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49A8E1-5BF6-4CFA-BE71-DA271D5E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87" y="1688823"/>
            <a:ext cx="9631119" cy="261974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A1109B4-1776-4BFC-B401-A4C7AA3CF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87" y="4590146"/>
            <a:ext cx="5075537" cy="182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9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3" y="348149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Программа «Угадай число»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19</a:t>
            </a:fld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FF07AF-7FFC-4502-BED4-56834D34D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65" y="1164429"/>
            <a:ext cx="8259328" cy="29245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42BAE99-C323-4A9A-972A-39AAFA234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64" y="4170820"/>
            <a:ext cx="5230699" cy="212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7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Вечный цикл и оператор </a:t>
            </a:r>
            <a:r>
              <a:rPr lang="ru-RU" sz="4400" dirty="0" err="1"/>
              <a:t>break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Когда мы пишем цикл </a:t>
            </a:r>
            <a:r>
              <a:rPr lang="ru-RU" sz="2400" dirty="0" err="1">
                <a:solidFill>
                  <a:srgbClr val="FF0000"/>
                </a:solidFill>
              </a:rPr>
              <a:t>while</a:t>
            </a:r>
            <a:r>
              <a:rPr lang="ru-RU" sz="2400" dirty="0"/>
              <a:t>, он будет выполняться пока условие истинно (пока результат проверки условия — </a:t>
            </a:r>
            <a:r>
              <a:rPr lang="ru-RU" sz="2400" dirty="0" err="1">
                <a:solidFill>
                  <a:srgbClr val="FF0000"/>
                </a:solidFill>
              </a:rPr>
              <a:t>True</a:t>
            </a:r>
            <a:r>
              <a:rPr lang="ru-RU" sz="2400" dirty="0"/>
              <a:t>).</a:t>
            </a:r>
          </a:p>
          <a:p>
            <a:pPr marL="45720" indent="0">
              <a:buNone/>
            </a:pPr>
            <a:endParaRPr lang="ru-RU" sz="2400" b="1" dirty="0"/>
          </a:p>
          <a:p>
            <a:pPr marL="45720" indent="0">
              <a:buNone/>
            </a:pPr>
            <a:endParaRPr lang="ru-RU" sz="2400" b="1" dirty="0"/>
          </a:p>
          <a:p>
            <a:pPr marL="45720" indent="0">
              <a:buNone/>
            </a:pPr>
            <a:r>
              <a:rPr lang="ru-RU" sz="2400" dirty="0"/>
              <a:t>*чтобы завершить этот цикл нажмите </a:t>
            </a:r>
            <a:r>
              <a:rPr lang="en-US" sz="2400" b="1" dirty="0"/>
              <a:t>Ctrl C </a:t>
            </a:r>
            <a:r>
              <a:rPr lang="ru-RU" sz="2400" dirty="0"/>
              <a:t>в терминале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20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71934C-52D9-4893-8D79-2EBC0243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27" y="1928568"/>
            <a:ext cx="7261414" cy="95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46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Вечный цикл и оператор </a:t>
            </a:r>
            <a:r>
              <a:rPr lang="ru-RU" sz="4400" dirty="0" err="1"/>
              <a:t>break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Но иногда можно специально или по ошибке написать такой цикл, который никогда не остановится сам. Такой цикл называется вечным (или бесконечным).</a:t>
            </a:r>
          </a:p>
          <a:p>
            <a:pPr marL="45720" indent="0">
              <a:buNone/>
            </a:pPr>
            <a:r>
              <a:rPr lang="ru-RU" sz="2400" b="1" dirty="0"/>
              <a:t>Бесконечные цикл</a:t>
            </a:r>
            <a:r>
              <a:rPr lang="ru-RU" sz="2400" dirty="0"/>
              <a:t>ы могут "зависнуть" и </a:t>
            </a:r>
            <a:r>
              <a:rPr lang="ru-RU" sz="2400" b="1" dirty="0"/>
              <a:t>заблокировать работу программы</a:t>
            </a:r>
            <a:r>
              <a:rPr lang="ru-RU" sz="2400" dirty="0"/>
              <a:t>. Поэтому с ними нужно быть осторожными!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21</a:t>
            </a:fld>
            <a:endParaRPr lang="ru-RU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ACF8520-4C1B-4C8C-811F-E1328A75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139" y="2874402"/>
            <a:ext cx="3495600" cy="34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432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Как остановить вечный цикл?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Чтобы выйти из бесконечного или любого другого цикла в нужный момент, используют специальную команду — </a:t>
            </a:r>
            <a:r>
              <a:rPr lang="ru-RU" sz="2400" b="1" dirty="0" err="1">
                <a:solidFill>
                  <a:srgbClr val="FF0000"/>
                </a:solidFill>
              </a:rPr>
              <a:t>break</a:t>
            </a:r>
            <a:r>
              <a:rPr lang="ru-RU" sz="2400" dirty="0"/>
              <a:t>.</a:t>
            </a:r>
          </a:p>
          <a:p>
            <a:pPr marL="45720" indent="0">
              <a:buNone/>
            </a:pPr>
            <a:r>
              <a:rPr lang="ru-RU" sz="2400" dirty="0"/>
              <a:t>Команда </a:t>
            </a:r>
            <a:r>
              <a:rPr lang="ru-RU" sz="2400" dirty="0" err="1"/>
              <a:t>break</a:t>
            </a:r>
            <a:r>
              <a:rPr lang="ru-RU" sz="2400" dirty="0"/>
              <a:t> прерывает выполнение цикла и сразу выходит из него.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Здесь программа только проверяет, чётное ли число. Если да — выводит сообщение, если нет — программа ничего не выводит.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22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2D0F3D-8E1D-4086-BD9C-2F8B2F65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25" y="2535930"/>
            <a:ext cx="1055517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13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Очень важно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break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/>
              <a:t>выходит</a:t>
            </a:r>
            <a:r>
              <a:rPr lang="ru-RU" sz="2400" dirty="0"/>
              <a:t> только из </a:t>
            </a:r>
            <a:r>
              <a:rPr lang="ru-RU" sz="2400" b="1" dirty="0"/>
              <a:t>одного цикла</a:t>
            </a:r>
            <a:r>
              <a:rPr lang="ru-RU" sz="2400" dirty="0"/>
              <a:t>, в котором он находится.</a:t>
            </a:r>
          </a:p>
          <a:p>
            <a:pPr marL="45720" indent="0">
              <a:buNone/>
            </a:pPr>
            <a:r>
              <a:rPr lang="ru-RU" sz="2400" dirty="0"/>
              <a:t>Если цикл вложенный (один цикл внутри другого), </a:t>
            </a:r>
            <a:r>
              <a:rPr lang="ru-RU" sz="2400" b="1" dirty="0" err="1">
                <a:solidFill>
                  <a:srgbClr val="FF0000"/>
                </a:solidFill>
              </a:rPr>
              <a:t>break</a:t>
            </a:r>
            <a:r>
              <a:rPr lang="ru-RU" sz="2400" dirty="0"/>
              <a:t> остановит </a:t>
            </a:r>
            <a:r>
              <a:rPr lang="ru-RU" sz="2400" b="1" dirty="0"/>
              <a:t>только внутренний цикл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23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62264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Где применяют вечные циклы и </a:t>
            </a:r>
            <a:r>
              <a:rPr lang="ru-RU" sz="4400" dirty="0" err="1"/>
              <a:t>break</a:t>
            </a:r>
            <a:r>
              <a:rPr lang="ru-RU" sz="4400" dirty="0"/>
              <a:t>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>
                <a:solidFill>
                  <a:srgbClr val="0F6FC6"/>
                </a:solidFill>
              </a:rPr>
              <a:t>Бесконечные циклы с </a:t>
            </a:r>
            <a:r>
              <a:rPr lang="ru-RU" sz="2400" b="1" dirty="0" err="1">
                <a:solidFill>
                  <a:srgbClr val="0F6FC6"/>
                </a:solidFill>
              </a:rPr>
              <a:t>break</a:t>
            </a:r>
            <a:r>
              <a:rPr lang="ru-RU" sz="2400" dirty="0">
                <a:solidFill>
                  <a:srgbClr val="0F6FC6"/>
                </a:solidFill>
              </a:rPr>
              <a:t> часто используют, когда </a:t>
            </a:r>
            <a:r>
              <a:rPr lang="ru-RU" sz="2400" b="1" dirty="0">
                <a:solidFill>
                  <a:srgbClr val="0F6FC6"/>
                </a:solidFill>
              </a:rPr>
              <a:t>не знаем заранее, сколько раз </a:t>
            </a:r>
            <a:r>
              <a:rPr lang="ru-RU" sz="2400" dirty="0">
                <a:solidFill>
                  <a:srgbClr val="0F6FC6"/>
                </a:solidFill>
              </a:rPr>
              <a:t>нужно повторять действия. </a:t>
            </a:r>
          </a:p>
          <a:p>
            <a:pPr marL="45720" indent="0">
              <a:buNone/>
            </a:pPr>
            <a:r>
              <a:rPr lang="ru-RU" sz="2400" dirty="0">
                <a:solidFill>
                  <a:srgbClr val="0F6FC6"/>
                </a:solidFill>
              </a:rPr>
              <a:t>Например:</a:t>
            </a:r>
          </a:p>
          <a:p>
            <a:r>
              <a:rPr lang="ru-RU" sz="2400" dirty="0">
                <a:solidFill>
                  <a:srgbClr val="0F6FC6"/>
                </a:solidFill>
              </a:rPr>
              <a:t>Ждать правильного ответа от пользователя.</a:t>
            </a:r>
          </a:p>
          <a:p>
            <a:r>
              <a:rPr lang="ru-RU" sz="2400" dirty="0">
                <a:solidFill>
                  <a:srgbClr val="0F6FC6"/>
                </a:solidFill>
              </a:rPr>
              <a:t>Работать с данными, пока пользователь не скажет «хватит».</a:t>
            </a:r>
          </a:p>
          <a:p>
            <a:r>
              <a:rPr lang="ru-RU" sz="2400" dirty="0">
                <a:solidFill>
                  <a:srgbClr val="0F6FC6"/>
                </a:solidFill>
              </a:rPr>
              <a:t>В играх — чтобы программа работала, пока игрок не проиграет.</a:t>
            </a:r>
          </a:p>
          <a:p>
            <a:pPr marL="45720" indent="0">
              <a:buNone/>
            </a:pPr>
            <a:endParaRPr lang="ru-RU" sz="2400" dirty="0">
              <a:solidFill>
                <a:srgbClr val="0F6FC6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80170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Очень важно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25</a:t>
            </a:fld>
            <a:endParaRPr lang="ru-RU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62D908A-4B28-4FB9-9D92-198C3A957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47" y="549065"/>
            <a:ext cx="11203676" cy="5521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37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1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Теперь попробуйте написать код который выводит </a:t>
            </a:r>
            <a:r>
              <a:rPr lang="ru-RU" sz="2400" b="1" dirty="0">
                <a:solidFill>
                  <a:srgbClr val="FF0000"/>
                </a:solidFill>
              </a:rPr>
              <a:t>таблицу умножения на 5 </a:t>
            </a:r>
            <a:r>
              <a:rPr lang="ru-RU" sz="2400" dirty="0"/>
              <a:t>с помощью цикла </a:t>
            </a:r>
            <a:r>
              <a:rPr lang="en-US" sz="2400" b="1" dirty="0">
                <a:solidFill>
                  <a:srgbClr val="FF0000"/>
                </a:solidFill>
              </a:rPr>
              <a:t>while</a:t>
            </a:r>
            <a:r>
              <a:rPr lang="en-US" sz="2400" dirty="0"/>
              <a:t> </a:t>
            </a:r>
            <a:r>
              <a:rPr lang="ru-RU" sz="2400" b="1" dirty="0"/>
              <a:t>или</a:t>
            </a:r>
            <a:r>
              <a:rPr lang="ru-RU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for</a:t>
            </a:r>
            <a:r>
              <a:rPr lang="ru-RU" sz="2400" dirty="0"/>
              <a:t> на ваш выбор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26</a:t>
            </a:fld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59FE02-0854-412F-81F5-E1BEDBABA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4" y="2010022"/>
            <a:ext cx="5118667" cy="190755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BBED5B5-326E-4DFE-A3CA-DEE521578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4" y="4115379"/>
            <a:ext cx="11098471" cy="195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31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Генерация случайных чисел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Библиотека </a:t>
            </a:r>
            <a:r>
              <a:rPr lang="ru-RU" sz="2400" b="1" dirty="0" err="1">
                <a:solidFill>
                  <a:srgbClr val="FF0000"/>
                </a:solidFill>
              </a:rPr>
              <a:t>random</a:t>
            </a:r>
            <a:r>
              <a:rPr lang="ru-RU" sz="2400" dirty="0"/>
              <a:t> – вспомогательные функции, которые могут генерировать случайные значения.</a:t>
            </a:r>
          </a:p>
          <a:p>
            <a:pPr marL="45720" indent="0">
              <a:buNone/>
            </a:pPr>
            <a:r>
              <a:rPr lang="ru-RU" sz="2400" dirty="0"/>
              <a:t>Библиотеки подключаются один раз в начале кода на самой верхней строке</a:t>
            </a:r>
          </a:p>
          <a:p>
            <a:pPr marL="45720" indent="0">
              <a:buNone/>
            </a:pPr>
            <a:r>
              <a:rPr lang="ru-RU" sz="2400" b="1" dirty="0" err="1">
                <a:solidFill>
                  <a:srgbClr val="FF0000"/>
                </a:solidFill>
              </a:rPr>
              <a:t>import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b="1" dirty="0" err="1">
                <a:solidFill>
                  <a:srgbClr val="FF0000"/>
                </a:solidFill>
              </a:rPr>
              <a:t>random</a:t>
            </a:r>
            <a:r>
              <a:rPr lang="ru-RU" sz="2400" b="1" dirty="0">
                <a:solidFill>
                  <a:srgbClr val="FF0000"/>
                </a:solidFill>
              </a:rPr>
              <a:t> </a:t>
            </a:r>
            <a:r>
              <a:rPr lang="ru-RU" sz="2400" dirty="0"/>
              <a:t>— команда, которая подключает в нашу программу модуль </a:t>
            </a:r>
            <a:r>
              <a:rPr lang="ru-RU" sz="2400" dirty="0" err="1"/>
              <a:t>random</a:t>
            </a:r>
            <a:r>
              <a:rPr lang="ru-RU" sz="2400" dirty="0"/>
              <a:t>.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27</a:t>
            </a:fld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80C7C7-7E44-4D6A-A9E3-2E3C949DD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9" y="2963040"/>
            <a:ext cx="7148547" cy="182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120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Генерация случайных чисел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253799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Функции библиотеки прописываются через точку: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en-US" sz="2400" dirty="0" err="1">
                <a:solidFill>
                  <a:srgbClr val="FF0000"/>
                </a:solidFill>
              </a:rPr>
              <a:t>random</a:t>
            </a:r>
            <a:r>
              <a:rPr lang="en-US" sz="2400" dirty="0" err="1">
                <a:solidFill>
                  <a:srgbClr val="00B0F0"/>
                </a:solidFill>
              </a:rPr>
              <a:t>.randint</a:t>
            </a:r>
            <a:r>
              <a:rPr lang="en-US" sz="2400" dirty="0"/>
              <a:t>(</a:t>
            </a:r>
            <a:r>
              <a:rPr lang="ru-RU" sz="2400" dirty="0">
                <a:solidFill>
                  <a:srgbClr val="FFC000"/>
                </a:solidFill>
              </a:rPr>
              <a:t>начальное число</a:t>
            </a:r>
            <a:r>
              <a:rPr lang="en-US" sz="2400" dirty="0"/>
              <a:t>, </a:t>
            </a:r>
            <a:r>
              <a:rPr lang="ru-RU" sz="2400" dirty="0">
                <a:solidFill>
                  <a:srgbClr val="00B050"/>
                </a:solidFill>
              </a:rPr>
              <a:t>конечное число</a:t>
            </a:r>
            <a:r>
              <a:rPr lang="en-US" sz="2400" dirty="0"/>
              <a:t>) 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Здесь </a:t>
            </a:r>
            <a:r>
              <a:rPr lang="en-US" sz="2400" dirty="0">
                <a:solidFill>
                  <a:srgbClr val="00B0F0"/>
                </a:solidFill>
              </a:rPr>
              <a:t>.</a:t>
            </a:r>
            <a:r>
              <a:rPr lang="en-US" sz="2400" dirty="0" err="1">
                <a:solidFill>
                  <a:srgbClr val="00B0F0"/>
                </a:solidFill>
              </a:rPr>
              <a:t>randint</a:t>
            </a:r>
            <a:r>
              <a:rPr lang="ru-RU" sz="2400" dirty="0">
                <a:solidFill>
                  <a:srgbClr val="00B0F0"/>
                </a:solidFill>
              </a:rPr>
              <a:t> </a:t>
            </a:r>
            <a:r>
              <a:rPr lang="ru-RU" sz="2400" dirty="0">
                <a:solidFill>
                  <a:srgbClr val="0F6FC6"/>
                </a:solidFill>
              </a:rPr>
              <a:t>это функция библиотеки </a:t>
            </a:r>
            <a:r>
              <a:rPr lang="en-US" sz="2400" dirty="0">
                <a:solidFill>
                  <a:srgbClr val="FF0000"/>
                </a:solidFill>
              </a:rPr>
              <a:t>random </a:t>
            </a:r>
            <a:r>
              <a:rPr lang="ru-RU" sz="2400" dirty="0">
                <a:solidFill>
                  <a:srgbClr val="0F6FC6"/>
                </a:solidFill>
              </a:rPr>
              <a:t>которая выбирает случайное число в пределах </a:t>
            </a:r>
            <a:r>
              <a:rPr lang="ru-RU" sz="2400" dirty="0">
                <a:solidFill>
                  <a:srgbClr val="FFC000"/>
                </a:solidFill>
              </a:rPr>
              <a:t>начального</a:t>
            </a:r>
            <a:r>
              <a:rPr lang="ru-RU" sz="2400" dirty="0">
                <a:solidFill>
                  <a:srgbClr val="0F6FC6"/>
                </a:solidFill>
              </a:rPr>
              <a:t> и </a:t>
            </a:r>
            <a:r>
              <a:rPr lang="ru-RU" sz="2400" dirty="0">
                <a:solidFill>
                  <a:srgbClr val="00B050"/>
                </a:solidFill>
              </a:rPr>
              <a:t>конченого</a:t>
            </a:r>
            <a:r>
              <a:rPr lang="ru-RU" sz="2400" dirty="0">
                <a:solidFill>
                  <a:srgbClr val="0F6FC6"/>
                </a:solidFill>
              </a:rPr>
              <a:t> числа включая их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28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3D66C26-9181-4F15-936C-61DE2E83EF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28" t="427"/>
          <a:stretch/>
        </p:blipFill>
        <p:spPr>
          <a:xfrm>
            <a:off x="672353" y="1649505"/>
            <a:ext cx="3612776" cy="47455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729148-BC1F-4B53-8631-B3AB6E95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3" y="3429000"/>
            <a:ext cx="10212634" cy="185321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C24A323-A37B-4447-A1E4-4224F94DB7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2424"/>
          <a:stretch/>
        </p:blipFill>
        <p:spPr>
          <a:xfrm>
            <a:off x="600633" y="5392155"/>
            <a:ext cx="4771492" cy="10435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142E4F-E8D0-42E1-80E8-5D185EF95F9A}"/>
              </a:ext>
            </a:extLst>
          </p:cNvPr>
          <p:cNvSpPr txBox="1"/>
          <p:nvPr/>
        </p:nvSpPr>
        <p:spPr>
          <a:xfrm>
            <a:off x="5522259" y="5282219"/>
            <a:ext cx="5291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/>
                </a:solidFill>
              </a:rPr>
              <a:t>Вы можете написать свой креативный текст и выбрать свои числа </a:t>
            </a:r>
            <a:r>
              <a:rPr lang="ru-RU" sz="2400" b="1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ru-RU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078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2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Напишем программу «Гонка черепах»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29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5CA989-B716-4717-8CE7-2C9491F15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1626087"/>
            <a:ext cx="10365282" cy="488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02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2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30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7E9DCC-2A06-47F5-AF82-34AE1BFD2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60" y="1093024"/>
            <a:ext cx="7272769" cy="534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146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</a:t>
            </a:r>
            <a:r>
              <a:rPr lang="en-US" sz="4400" dirty="0"/>
              <a:t>3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Усовершенствуем программу «Угадай число». Теперь угадываем случайное число.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31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180C83-8D09-44E7-B496-B719F0D507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95"/>
          <a:stretch/>
        </p:blipFill>
        <p:spPr>
          <a:xfrm>
            <a:off x="601575" y="1709646"/>
            <a:ext cx="9869201" cy="466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67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</a:t>
            </a:r>
            <a:r>
              <a:rPr lang="en-US" sz="4400" dirty="0"/>
              <a:t>3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Добавим небольшую подсказку в игру. Больше или меньше загаданное число.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32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A367B3-40A0-4304-BE86-98B700F3E7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662"/>
          <a:stretch/>
        </p:blipFill>
        <p:spPr>
          <a:xfrm>
            <a:off x="632136" y="1658469"/>
            <a:ext cx="10121502" cy="44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145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</a:t>
            </a:r>
            <a:r>
              <a:rPr lang="en-US" sz="4400" dirty="0"/>
              <a:t>3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Добавим небольшую подсказку в игру. Больше или меньше загаданное число.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33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A367B3-40A0-4304-BE86-98B700F3E7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662"/>
          <a:stretch/>
        </p:blipFill>
        <p:spPr>
          <a:xfrm>
            <a:off x="632136" y="1658469"/>
            <a:ext cx="10121502" cy="444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03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4400" dirty="0"/>
              <a:t>Немного практики </a:t>
            </a:r>
            <a:r>
              <a:rPr lang="en-US" sz="4400" dirty="0"/>
              <a:t>3</a:t>
            </a:r>
            <a:endParaRPr lang="ru-RU" sz="4400" dirty="0"/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08473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Добавим ограниченное количество попыток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34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4227B2-20CA-4824-9229-65475D0E2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1" t="4737" b="10392"/>
          <a:stretch/>
        </p:blipFill>
        <p:spPr>
          <a:xfrm>
            <a:off x="636494" y="1491254"/>
            <a:ext cx="8991600" cy="518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216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682" y="861879"/>
            <a:ext cx="8390965" cy="734472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596351"/>
            <a:ext cx="11214847" cy="484030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35</a:t>
            </a:fld>
            <a:endParaRPr lang="ru-RU" sz="2000" dirty="0"/>
          </a:p>
        </p:txBody>
      </p:sp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5285A1E7-0011-438F-9B89-C9EE21610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2"/>
          <a:stretch/>
        </p:blipFill>
        <p:spPr bwMode="auto">
          <a:xfrm>
            <a:off x="3469341" y="2008093"/>
            <a:ext cx="4446494" cy="333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8745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1168</TotalTime>
  <Words>1096</Words>
  <Application>Microsoft Office PowerPoint</Application>
  <PresentationFormat>Широкоэкранный</PresentationFormat>
  <Paragraphs>208</Paragraphs>
  <Slides>35</Slides>
  <Notes>34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0" baseType="lpstr">
      <vt:lpstr>Arial</vt:lpstr>
      <vt:lpstr>Calibri</vt:lpstr>
      <vt:lpstr>Corbel</vt:lpstr>
      <vt:lpstr>Inter</vt:lpstr>
      <vt:lpstr>Базис</vt:lpstr>
      <vt:lpstr>  Цикл while в Python. </vt:lpstr>
      <vt:lpstr>Немного вспомним прошлый урок</vt:lpstr>
      <vt:lpstr>Ввод и вывод данных в Python</vt:lpstr>
      <vt:lpstr>Основные типы данных в Python</vt:lpstr>
      <vt:lpstr>Математические операции</vt:lpstr>
      <vt:lpstr>Преобразование типов данных</vt:lpstr>
      <vt:lpstr>Условные конструкции</vt:lpstr>
      <vt:lpstr>Операции сравнения:</vt:lpstr>
      <vt:lpstr>Использование логических операторов</vt:lpstr>
      <vt:lpstr>Использование логических операторов</vt:lpstr>
      <vt:lpstr>Использование логических операторов</vt:lpstr>
      <vt:lpstr>Что такое цикл?</vt:lpstr>
      <vt:lpstr>Цикл for</vt:lpstr>
      <vt:lpstr>Переходим к теме урока</vt:lpstr>
      <vt:lpstr>Что такое цикл while?</vt:lpstr>
      <vt:lpstr>Немного практики</vt:lpstr>
      <vt:lpstr>Важные правила для цикла while:</vt:lpstr>
      <vt:lpstr>Как ещё можно использовать while</vt:lpstr>
      <vt:lpstr>Программа «Угадай число»</vt:lpstr>
      <vt:lpstr>Вечный цикл и оператор break</vt:lpstr>
      <vt:lpstr>Вечный цикл и оператор break</vt:lpstr>
      <vt:lpstr>Как остановить вечный цикл?</vt:lpstr>
      <vt:lpstr>Очень важно</vt:lpstr>
      <vt:lpstr>Где применяют вечные циклы и break?</vt:lpstr>
      <vt:lpstr>Очень важно</vt:lpstr>
      <vt:lpstr>Немного практики 1</vt:lpstr>
      <vt:lpstr>Генерация случайных чисел</vt:lpstr>
      <vt:lpstr>Генерация случайных чисел</vt:lpstr>
      <vt:lpstr>Немного практики 2</vt:lpstr>
      <vt:lpstr>Немного практики 2</vt:lpstr>
      <vt:lpstr>Немного практики 3</vt:lpstr>
      <vt:lpstr>Немного практики 3</vt:lpstr>
      <vt:lpstr>Немного практики 3</vt:lpstr>
      <vt:lpstr>Немного практики 3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Эля Ахметова</cp:lastModifiedBy>
  <cp:revision>79</cp:revision>
  <dcterms:created xsi:type="dcterms:W3CDTF">2026-01-16T14:49:53Z</dcterms:created>
  <dcterms:modified xsi:type="dcterms:W3CDTF">2026-01-30T22:46:48Z</dcterms:modified>
</cp:coreProperties>
</file>