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0" r:id="rId1"/>
  </p:sldMasterIdLst>
  <p:notesMasterIdLst>
    <p:notesMasterId r:id="rId38"/>
  </p:notesMasterIdLst>
  <p:sldIdLst>
    <p:sldId id="256" r:id="rId2"/>
    <p:sldId id="333" r:id="rId3"/>
    <p:sldId id="265" r:id="rId4"/>
    <p:sldId id="334" r:id="rId5"/>
    <p:sldId id="336" r:id="rId6"/>
    <p:sldId id="335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66" r:id="rId21"/>
    <p:sldId id="365" r:id="rId22"/>
    <p:sldId id="350" r:id="rId23"/>
    <p:sldId id="351" r:id="rId24"/>
    <p:sldId id="352" r:id="rId25"/>
    <p:sldId id="353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28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Эля Ахметова" initials="ЭА" lastIdx="1" clrIdx="0">
    <p:extLst>
      <p:ext uri="{19B8F6BF-5375-455C-9EA6-DF929625EA0E}">
        <p15:presenceInfo xmlns:p15="http://schemas.microsoft.com/office/powerpoint/2012/main" userId="12f8543c4a5474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F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6" autoAdjust="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7CE2D-A7B0-475A-A5D6-970EC3A786A8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A89F7-B92F-48E2-B420-2B1BE318E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58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3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269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5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509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905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855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40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144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975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545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310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040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156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720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9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5371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7961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73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612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488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212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7327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1766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910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3705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4979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8572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0649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5547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6792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534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281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6580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30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4D79CDC-7481-4905-B89D-BAC893F0865C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44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514D-1245-4E5C-B6D4-9B8552181E0F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85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3C28-9F1E-4CB0-99B8-90A1A1A459F1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1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FFE7D-C938-4E28-99F3-06FA598F2CE2}" type="datetime1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63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EAD02-81FD-476A-A934-39D412F6A534}" type="datetime1">
              <a:rPr lang="ru-RU" smtClean="0"/>
              <a:t>07.02.2026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88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77FD-3CDF-47B5-AF1A-B57779CA5927}" type="datetime1">
              <a:rPr lang="ru-RU" smtClean="0"/>
              <a:t>07.02.2026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9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15798-E941-4EE2-8787-B5189EEAAF58}" type="datetime1">
              <a:rPr lang="ru-RU" smtClean="0"/>
              <a:t>07.02.2026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45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6713-29C0-4399-A3E4-EA7F0F9B78B1}" type="datetime1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67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EFFD-468F-42E7-B3C0-333211D20C9A}" type="datetime1">
              <a:rPr lang="ru-RU" smtClean="0"/>
              <a:t>07.02.2026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83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9F8-DBFD-4AFF-AAE6-818567FEF22B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0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2395-D087-4CA9-A95A-0C6F05552BB6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39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035F01D-5557-4729-89DC-FC9FCEFE2C80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70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FE7-A3CC-47A6-B41B-AF10A862E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  Работа с библиотеками в Python.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22F94E-2FDF-4C12-810D-4E517C9F6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B0B74BF-12D0-49B1-891E-E03AAA4A4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202" y="3946411"/>
            <a:ext cx="2454387" cy="24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04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Что такое библиотеки в Python?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Библиотеки в Python - это наборы функций, классов и модулей, которые упрощают решение различных задач. </a:t>
            </a:r>
          </a:p>
          <a:p>
            <a:pPr marL="45720" indent="0">
              <a:buNone/>
            </a:pPr>
            <a:r>
              <a:rPr lang="ru-RU" sz="2400" dirty="0"/>
              <a:t>Когда вы подключаете библиотеку в Python, вы получаете доступ к её методам и классам, которые значительно упрощают выполнение специфических задач. Это сэкономит вам время и силы, а также повысит читаемость вашего кода.</a:t>
            </a:r>
          </a:p>
          <a:p>
            <a:pPr marL="45720" indent="0">
              <a:buNone/>
            </a:pPr>
            <a:r>
              <a:rPr lang="ru-RU" sz="2400" dirty="0"/>
              <a:t>Для подключения библиотеки в Python используется конструкция </a:t>
            </a:r>
            <a:r>
              <a:rPr lang="ru-RU" sz="2400" dirty="0" err="1"/>
              <a:t>import</a:t>
            </a:r>
            <a:r>
              <a:rPr lang="ru-RU" sz="2400" dirty="0"/>
              <a:t>: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Затем вы можете использовать все функции и классы, доступные в этой библиотеке.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40CBD9-D6A4-4BAF-A1BE-D980B09A3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27" y="3647629"/>
            <a:ext cx="8392347" cy="94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8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Библиотека </a:t>
            </a:r>
            <a:r>
              <a:rPr lang="en-US" sz="4400" b="1" dirty="0">
                <a:solidFill>
                  <a:srgbClr val="FF0000"/>
                </a:solidFill>
              </a:rPr>
              <a:t>math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Библиотека </a:t>
            </a:r>
            <a:r>
              <a:rPr lang="ru-RU" sz="2400" b="1" dirty="0" err="1">
                <a:solidFill>
                  <a:srgbClr val="FF0000"/>
                </a:solidFill>
              </a:rPr>
              <a:t>math</a:t>
            </a:r>
            <a:r>
              <a:rPr lang="ru-RU" sz="2400" dirty="0"/>
              <a:t> включает множество полезных математических функций, которые пригодятся при решении задач, связанных с числами. Рассмотрим некоторые из них.</a:t>
            </a:r>
          </a:p>
          <a:p>
            <a:pPr marL="45720" indent="0">
              <a:buNone/>
            </a:pPr>
            <a:r>
              <a:rPr lang="ru-RU" sz="2400" dirty="0"/>
              <a:t>					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3CD677-B8A8-4727-8286-0084F85B5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14" y="2067579"/>
            <a:ext cx="5560457" cy="4409049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EF3DE2E8-9F72-4475-A964-D2260FE93D42}"/>
              </a:ext>
            </a:extLst>
          </p:cNvPr>
          <p:cNvSpPr txBox="1">
            <a:spLocks/>
          </p:cNvSpPr>
          <p:nvPr/>
        </p:nvSpPr>
        <p:spPr>
          <a:xfrm>
            <a:off x="6312805" y="2067579"/>
            <a:ext cx="5556174" cy="526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ru-RU" sz="2400" i="1" dirty="0"/>
              <a:t>*Можете записать только 4 и 13 строчки, остальные вам не понадобятся</a:t>
            </a:r>
            <a:r>
              <a:rPr lang="ru-RU" sz="24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80169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Библиотека </a:t>
            </a:r>
            <a:r>
              <a:rPr lang="en-US" sz="4400" b="1" dirty="0">
                <a:solidFill>
                  <a:srgbClr val="FF0000"/>
                </a:solidFill>
              </a:rPr>
              <a:t>random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Библиотека </a:t>
            </a:r>
            <a:r>
              <a:rPr lang="ru-RU" sz="2400" b="1" dirty="0" err="1">
                <a:solidFill>
                  <a:srgbClr val="FF0000"/>
                </a:solidFill>
              </a:rPr>
              <a:t>random</a:t>
            </a:r>
            <a:r>
              <a:rPr lang="ru-RU" sz="2400" dirty="0"/>
              <a:t> используется для генерации случайных чисел. Это полезно, когда нужно случайным образом выбрать элементы, например, для игр, тестов или случайных событий.					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4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8E9640-F0D5-4E97-B94C-9489019B9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35" y="2091568"/>
            <a:ext cx="9675512" cy="444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3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Способы импорта библиотек в Python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В Python существует несколько способов импорта библиотек и модулей. Рассмотрим основные методы.</a:t>
            </a:r>
          </a:p>
          <a:p>
            <a:pPr>
              <a:spcBef>
                <a:spcPts val="600"/>
              </a:spcBef>
            </a:pPr>
            <a:r>
              <a:rPr lang="ru-RU" sz="2400" b="1" u="sng" dirty="0"/>
              <a:t>Обычный импорт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Самый простой способ импортировать библиотеку — использовать команду </a:t>
            </a:r>
            <a:r>
              <a:rPr lang="ru-RU" sz="2400" b="1" dirty="0" err="1">
                <a:solidFill>
                  <a:srgbClr val="FF0000"/>
                </a:solidFill>
              </a:rPr>
              <a:t>import</a:t>
            </a:r>
            <a:endParaRPr lang="ru-RU" sz="2400" b="1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Этот способ позволяет получить доступ ко всем функциям и классам библиотеки, используя имя библиотеки в качестве префикса.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	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5</a:t>
            </a:fld>
            <a:endParaRPr lang="ru-RU" sz="2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3C9130B-8454-4571-B34E-49776C9B2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8" y="3858815"/>
            <a:ext cx="7042245" cy="139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08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Способы импорта библиотек в Python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ru-RU" sz="2400" b="1" u="sng" dirty="0"/>
              <a:t>Импорт с псевдонимом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Если название библиотеки слишком длинное или если вы хотите использовать короткое имя для удобства, вы можете задать псевдоним (</a:t>
            </a:r>
            <a:r>
              <a:rPr lang="ru-RU" sz="2400" dirty="0" err="1"/>
              <a:t>alias</a:t>
            </a:r>
            <a:r>
              <a:rPr lang="ru-RU" sz="2400" dirty="0"/>
              <a:t>):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Теперь вы можете использовать псевдонимы для обращения к библиотекам.			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6</a:t>
            </a:fld>
            <a:endParaRPr lang="ru-RU" sz="20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4FC14B-AA90-461E-97BA-F083E3A355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15" t="16459" r="8838" b="11211"/>
          <a:stretch/>
        </p:blipFill>
        <p:spPr>
          <a:xfrm>
            <a:off x="627530" y="2223247"/>
            <a:ext cx="4035730" cy="109369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363A238-066D-4FC1-958D-7AA33AF5C1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00"/>
          <a:stretch/>
        </p:blipFill>
        <p:spPr>
          <a:xfrm>
            <a:off x="627530" y="3843580"/>
            <a:ext cx="4703390" cy="156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1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Способы импорта библиотек в Python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ru-RU" sz="2400" b="1" u="sng" dirty="0"/>
              <a:t>Импорт отдельных функций или классов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Если вам нужно только несколько функций или классов из библиотеки, можно импортировать их напрямую, без использования префикса с именем библиотеки. Это особенно полезно, если библиотека содержит множество функций, а вам нужно только несколько.	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Теперь можно использовать функции напрямую.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7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0B95FE-9213-46E1-ABEE-7D68E034A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46" y="2859423"/>
            <a:ext cx="5143125" cy="10545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66B50C-D0C5-4761-8224-6B9C1442A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46" y="4472484"/>
            <a:ext cx="3135030" cy="189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20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Способы импорта библиотек в Python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ru-RU" sz="2400" b="1" u="sng" dirty="0"/>
              <a:t>Импорт всего содержимого библиотеки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В случае, если вам нужно использовать все функции и классы из библиотеки, можно импортировать её полностью.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Этот способ не рекомендуется использовать в больших проектах, так как он может привести к конфликту имен, если в разных библиотеках есть одноимённые функции. Лучше использовать первый или второй способ, чтобы избежать таких проблем.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8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7664A1-C9B0-4B73-80B1-4019DF7178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6" t="5921" b="10721"/>
          <a:stretch/>
        </p:blipFill>
        <p:spPr>
          <a:xfrm>
            <a:off x="654423" y="2223247"/>
            <a:ext cx="47332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09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Способы импорта библиотек в Python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ru-RU" sz="2400" b="1" u="sng" dirty="0"/>
              <a:t>Импорт модулей из пакетов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Python поддерживает иерархию пакетов, то есть библиотеки могут содержать несколько модулей. Чтобы импортировать определённый модуль из пакета, нужно указать путь к нему: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9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487999-7D44-4794-877E-3AC8289B3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51" y="2593554"/>
            <a:ext cx="11378916" cy="98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08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Библиотека </a:t>
            </a:r>
            <a:r>
              <a:rPr lang="en-US" sz="4400" dirty="0">
                <a:solidFill>
                  <a:srgbClr val="FF0000"/>
                </a:solidFill>
              </a:rPr>
              <a:t>Turtle</a:t>
            </a:r>
            <a:endParaRPr lang="ru-RU" sz="4400" b="1" dirty="0">
              <a:solidFill>
                <a:srgbClr val="FF0000"/>
              </a:solidFill>
            </a:endParaRP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200"/>
              </a:spcBef>
              <a:buNone/>
            </a:pPr>
            <a:r>
              <a:rPr lang="ru-RU" sz="2400" dirty="0"/>
              <a:t>С помощью библиотеки </a:t>
            </a:r>
            <a:r>
              <a:rPr lang="ru-RU" sz="2400" b="1" dirty="0" err="1">
                <a:solidFill>
                  <a:srgbClr val="FF0000"/>
                </a:solidFill>
              </a:rPr>
              <a:t>turtle</a:t>
            </a:r>
            <a:r>
              <a:rPr lang="ru-RU" sz="2400" dirty="0"/>
              <a:t> можно рисовать на экране, управляя «черепашкой», которая оставляет за собой след.</a:t>
            </a:r>
          </a:p>
          <a:p>
            <a:pPr marL="45720" indent="0">
              <a:spcBef>
                <a:spcPts val="200"/>
              </a:spcBef>
              <a:buNone/>
            </a:pPr>
            <a:r>
              <a:rPr lang="ru-RU" sz="2400" b="1" dirty="0"/>
              <a:t>Подключаем библиотеку</a:t>
            </a:r>
          </a:p>
          <a:p>
            <a:pPr>
              <a:spcBef>
                <a:spcPts val="200"/>
              </a:spcBef>
            </a:pPr>
            <a:endParaRPr lang="ru-RU" sz="2400" b="1" dirty="0"/>
          </a:p>
          <a:p>
            <a:pPr>
              <a:spcBef>
                <a:spcPts val="200"/>
              </a:spcBef>
            </a:pPr>
            <a:endParaRPr lang="ru-RU" sz="2400" b="1" dirty="0"/>
          </a:p>
          <a:p>
            <a:pPr marL="45720" indent="0">
              <a:spcBef>
                <a:spcPts val="2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10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7313BC-3CF5-4AA5-ACF3-B93B654FE9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701" b="16246"/>
          <a:stretch/>
        </p:blipFill>
        <p:spPr>
          <a:xfrm>
            <a:off x="606553" y="2138980"/>
            <a:ext cx="3638232" cy="54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64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Настройка черепашки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b="1" dirty="0"/>
              <a:t>Изменение формы черепашки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Черепашка может выглядеть по-разному. Для этого используем команду </a:t>
            </a:r>
            <a:r>
              <a:rPr lang="ru-RU" sz="2400" b="1" dirty="0" err="1">
                <a:solidFill>
                  <a:srgbClr val="FF0000"/>
                </a:solidFill>
              </a:rPr>
              <a:t>shape</a:t>
            </a:r>
            <a:r>
              <a:rPr lang="ru-RU" sz="2400" b="1" dirty="0">
                <a:solidFill>
                  <a:srgbClr val="FF0000"/>
                </a:solidFill>
              </a:rPr>
              <a:t>(). </a:t>
            </a:r>
            <a:r>
              <a:rPr lang="ru-RU" sz="2400" dirty="0"/>
              <a:t>Вот возможные формы: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>
              <a:spcBef>
                <a:spcPts val="200"/>
              </a:spcBef>
            </a:pPr>
            <a:endParaRPr lang="ru-RU" sz="2400" b="1" dirty="0"/>
          </a:p>
          <a:p>
            <a:pPr marL="45720" indent="0">
              <a:spcBef>
                <a:spcPts val="2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11</a:t>
            </a:fld>
            <a:endParaRPr lang="ru-RU" sz="2000" dirty="0"/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42B007A9-C557-4123-AA55-5CE1CBC7E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833770"/>
              </p:ext>
            </p:extLst>
          </p:nvPr>
        </p:nvGraphicFramePr>
        <p:xfrm>
          <a:off x="637766" y="2193656"/>
          <a:ext cx="8127999" cy="249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1680853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043042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04669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dirty="0" err="1"/>
                        <a:t>arrow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стрела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030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err="1"/>
                        <a:t>turtle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черепашка (по умолчанию)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9495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err="1"/>
                        <a:t>circle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круг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496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err="1"/>
                        <a:t>square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квадрат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72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err="1"/>
                        <a:t>triangle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треугольник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095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 err="1"/>
                        <a:t>classic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классический вид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33277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B26183-F97A-44CE-AF7A-B6D71F5A5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924" y="2660917"/>
            <a:ext cx="362001" cy="39058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697F796-4C26-4E28-96D2-8134E3E5D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818" y="2203449"/>
            <a:ext cx="219106" cy="33342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B0A411A-F20C-4E5D-A7DC-1CE2D394B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995" y="3218547"/>
            <a:ext cx="304843" cy="33342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6814E30-1F7A-49BF-A585-B4D558639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4810" y="3645795"/>
            <a:ext cx="257211" cy="2953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6EACDB7-0706-47D1-B93C-A79543FEB3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4336" y="3948478"/>
            <a:ext cx="247685" cy="34294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44136B2-6698-4FAE-85AD-43B6DE6C1BA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8868" r="15625" b="13529"/>
          <a:stretch/>
        </p:blipFill>
        <p:spPr>
          <a:xfrm>
            <a:off x="6312371" y="4348499"/>
            <a:ext cx="257211" cy="33943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46F3804-CB9C-460E-BCF3-A715F3D287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766" y="4936249"/>
            <a:ext cx="6051244" cy="100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7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Настройка черепашки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b="1" dirty="0"/>
              <a:t>Изменение цвета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Вы можете изменить цвет, которым черепашка будет рисовать линии, с помощью команды </a:t>
            </a:r>
            <a:r>
              <a:rPr lang="ru-RU" sz="2400" b="1" dirty="0" err="1">
                <a:solidFill>
                  <a:srgbClr val="FF0000"/>
                </a:solidFill>
              </a:rPr>
              <a:t>color</a:t>
            </a:r>
            <a:r>
              <a:rPr lang="ru-RU" sz="2400" b="1" dirty="0">
                <a:solidFill>
                  <a:srgbClr val="FF0000"/>
                </a:solidFill>
              </a:rPr>
              <a:t>():</a:t>
            </a:r>
          </a:p>
          <a:p>
            <a:pPr marL="45720" indent="0">
              <a:spcBef>
                <a:spcPts val="600"/>
              </a:spcBef>
              <a:buNone/>
            </a:pPr>
            <a:endParaRPr lang="ru-RU" sz="2400" dirty="0"/>
          </a:p>
          <a:p>
            <a:pPr>
              <a:spcBef>
                <a:spcPts val="200"/>
              </a:spcBef>
            </a:pPr>
            <a:endParaRPr lang="ru-RU" sz="2400" b="1" dirty="0"/>
          </a:p>
          <a:p>
            <a:pPr marL="45720" indent="0">
              <a:spcBef>
                <a:spcPts val="2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12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E6CAF2-0596-46CF-AC97-35B0EE1CB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25" y="2208291"/>
            <a:ext cx="6215109" cy="95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1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13</a:t>
            </a:fld>
            <a:endParaRPr lang="ru-RU" sz="2000" dirty="0"/>
          </a:p>
        </p:txBody>
      </p:sp>
      <p:pic>
        <p:nvPicPr>
          <p:cNvPr id="2050" name="Picture 2" descr="The first page of turtle colors; consisting of six rows of colored squares next to six rows of text naming those colors. If you are familiar with RGB colors, you may specify a color using the following syntax: `color((0.8, 0, 0.1))`. Note the two sets of parentheses, and that each component value is a decimal between 0 and 1. So that example color has quite a bit of red (the color of strawberries), no green (the color of new leaves), and a little bit of blue (the color of a large body of water on a clear day), so it is a medium-dark burgundy color (like some varieties of grape).">
            <a:extLst>
              <a:ext uri="{FF2B5EF4-FFF2-40B4-BE49-F238E27FC236}">
                <a16:creationId xmlns:a16="http://schemas.microsoft.com/office/drawing/2014/main" id="{FC50B6B4-9C11-46D3-8123-D06981E1B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3" t="11313" r="16240" b="15175"/>
          <a:stretch/>
        </p:blipFill>
        <p:spPr bwMode="auto">
          <a:xfrm>
            <a:off x="1173480" y="278392"/>
            <a:ext cx="9250385" cy="627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4AE20042-A380-43A1-9E3A-E3DB366C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7117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Настройка черепашки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b="1" dirty="0"/>
              <a:t>Изменение скорости</a:t>
            </a:r>
            <a:endParaRPr lang="en-US" sz="2400" b="1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Черепашка может двигаться с разной скоростью от 1 (медленно) до 10 (быстро)</a:t>
            </a: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С помощью команды </a:t>
            </a:r>
            <a:r>
              <a:rPr lang="en-US" sz="2400" b="1" dirty="0">
                <a:solidFill>
                  <a:srgbClr val="FF0000"/>
                </a:solidFill>
              </a:rPr>
              <a:t>speed()</a:t>
            </a:r>
            <a:endParaRPr lang="ru-RU" sz="24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</a:pPr>
            <a:endParaRPr lang="ru-RU" sz="2400" b="1" dirty="0"/>
          </a:p>
          <a:p>
            <a:pPr marL="45720" indent="0">
              <a:spcBef>
                <a:spcPts val="200"/>
              </a:spcBef>
              <a:buNone/>
            </a:pPr>
            <a:endParaRPr lang="ru-RU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14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2AEC94-DD32-414F-BBA4-2A9298F04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79" y="2308803"/>
            <a:ext cx="4013367" cy="73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6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Двигаем черепашку и рисуем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forward</a:t>
            </a:r>
            <a:r>
              <a:rPr lang="ru-RU" sz="2400" b="1" dirty="0">
                <a:solidFill>
                  <a:srgbClr val="FF0000"/>
                </a:solidFill>
              </a:rPr>
              <a:t>(</a:t>
            </a:r>
            <a:r>
              <a:rPr lang="ru-RU" sz="2400" b="1" dirty="0" err="1">
                <a:solidFill>
                  <a:srgbClr val="FF0000"/>
                </a:solidFill>
              </a:rPr>
              <a:t>distance</a:t>
            </a:r>
            <a:r>
              <a:rPr lang="ru-RU" sz="2400" b="1" dirty="0">
                <a:solidFill>
                  <a:srgbClr val="FF0000"/>
                </a:solidFill>
              </a:rPr>
              <a:t>) </a:t>
            </a:r>
            <a:r>
              <a:rPr lang="ru-RU" sz="2400" dirty="0"/>
              <a:t>— движение вперёд на указанное количество пикселей.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backward</a:t>
            </a:r>
            <a:r>
              <a:rPr lang="ru-RU" sz="2400" b="1" dirty="0">
                <a:solidFill>
                  <a:srgbClr val="FF0000"/>
                </a:solidFill>
              </a:rPr>
              <a:t>(</a:t>
            </a:r>
            <a:r>
              <a:rPr lang="ru-RU" sz="2400" b="1" dirty="0" err="1">
                <a:solidFill>
                  <a:srgbClr val="FF0000"/>
                </a:solidFill>
              </a:rPr>
              <a:t>distance</a:t>
            </a:r>
            <a:r>
              <a:rPr lang="ru-RU" sz="2400" b="1" dirty="0">
                <a:solidFill>
                  <a:srgbClr val="FF0000"/>
                </a:solidFill>
              </a:rPr>
              <a:t>) </a:t>
            </a:r>
            <a:r>
              <a:rPr lang="ru-RU" sz="2400" dirty="0"/>
              <a:t>— движение назад на указанное количество пикселей.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left</a:t>
            </a:r>
            <a:r>
              <a:rPr lang="ru-RU" sz="2400" b="1" dirty="0">
                <a:solidFill>
                  <a:srgbClr val="FF0000"/>
                </a:solidFill>
              </a:rPr>
              <a:t>(</a:t>
            </a:r>
            <a:r>
              <a:rPr lang="ru-RU" sz="2400" b="1" dirty="0" err="1">
                <a:solidFill>
                  <a:srgbClr val="FF0000"/>
                </a:solidFill>
              </a:rPr>
              <a:t>angle</a:t>
            </a:r>
            <a:r>
              <a:rPr lang="ru-RU" sz="2400" b="1" dirty="0">
                <a:solidFill>
                  <a:srgbClr val="FF0000"/>
                </a:solidFill>
              </a:rPr>
              <a:t>) </a:t>
            </a:r>
            <a:r>
              <a:rPr lang="ru-RU" sz="2400" dirty="0"/>
              <a:t>— поворот на указанный угол влево.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right</a:t>
            </a:r>
            <a:r>
              <a:rPr lang="ru-RU" sz="2400" b="1" dirty="0">
                <a:solidFill>
                  <a:srgbClr val="FF0000"/>
                </a:solidFill>
              </a:rPr>
              <a:t>(</a:t>
            </a:r>
            <a:r>
              <a:rPr lang="ru-RU" sz="2400" b="1" dirty="0" err="1">
                <a:solidFill>
                  <a:srgbClr val="FF0000"/>
                </a:solidFill>
              </a:rPr>
              <a:t>angle</a:t>
            </a:r>
            <a:r>
              <a:rPr lang="ru-RU" sz="2400" b="1" dirty="0">
                <a:solidFill>
                  <a:srgbClr val="FF0000"/>
                </a:solidFill>
              </a:rPr>
              <a:t>) </a:t>
            </a:r>
            <a:r>
              <a:rPr lang="ru-RU" sz="2400" dirty="0"/>
              <a:t>— поворот на указанный угол вправо.</a:t>
            </a:r>
            <a:endParaRPr lang="en-US" sz="2400" dirty="0"/>
          </a:p>
          <a:p>
            <a:pPr marL="45720" indent="0">
              <a:spcBef>
                <a:spcPts val="600"/>
              </a:spcBef>
              <a:buNone/>
            </a:pPr>
            <a:r>
              <a:rPr lang="en-US" sz="2400" dirty="0"/>
              <a:t>							</a:t>
            </a:r>
            <a:r>
              <a:rPr lang="ru-RU" sz="2400" dirty="0"/>
              <a:t>       </a:t>
            </a:r>
            <a:r>
              <a:rPr lang="ru-RU" sz="2400" b="1" dirty="0">
                <a:solidFill>
                  <a:srgbClr val="FF0000"/>
                </a:solidFill>
              </a:rPr>
              <a:t>Красный</a:t>
            </a:r>
            <a:r>
              <a:rPr lang="ru-RU" sz="2400" dirty="0"/>
              <a:t> – двигаемся вперёд</a:t>
            </a:r>
          </a:p>
          <a:p>
            <a:pPr marL="45720" indent="0">
              <a:spcBef>
                <a:spcPts val="200"/>
              </a:spcBef>
              <a:buNone/>
            </a:pPr>
            <a:r>
              <a:rPr lang="ru-RU" sz="2400" dirty="0"/>
              <a:t>							       </a:t>
            </a:r>
            <a:r>
              <a:rPr lang="ru-RU" sz="2400" b="1" dirty="0">
                <a:solidFill>
                  <a:schemeClr val="accent4">
                    <a:lumMod val="50000"/>
                  </a:schemeClr>
                </a:solidFill>
              </a:rPr>
              <a:t>Зеленый</a:t>
            </a:r>
            <a:r>
              <a:rPr lang="ru-RU" sz="2400" dirty="0"/>
              <a:t> - угол</a:t>
            </a:r>
          </a:p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15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536E4B-26A1-441E-8DBF-62F6D3712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83" y="2640392"/>
            <a:ext cx="6639096" cy="395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2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Использование циклов для удобства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16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FA8A0A-AB4E-4628-AA05-DC182B427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87" y="995083"/>
            <a:ext cx="5615011" cy="566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14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Использование переменных для удобства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17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D085E2-CD99-4FDD-9E68-57752948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36" y="967862"/>
            <a:ext cx="5042854" cy="556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10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Рисуем окружности</a:t>
            </a:r>
            <a:r>
              <a:rPr lang="en-US" sz="4400" dirty="0"/>
              <a:t> </a:t>
            </a:r>
            <a:r>
              <a:rPr lang="ru-RU" sz="4400" b="1" dirty="0" err="1">
                <a:solidFill>
                  <a:srgbClr val="FF0000"/>
                </a:solidFill>
              </a:rPr>
              <a:t>circle</a:t>
            </a:r>
            <a:r>
              <a:rPr lang="ru-RU" sz="4400" b="1" dirty="0">
                <a:solidFill>
                  <a:srgbClr val="FF0000"/>
                </a:solidFill>
              </a:rPr>
              <a:t>()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Черепашка может рисовать не только прямые линии, но и окружности. Для этого используется метод </a:t>
            </a:r>
            <a:r>
              <a:rPr lang="ru-RU" sz="2400" b="1" dirty="0" err="1">
                <a:solidFill>
                  <a:srgbClr val="FF0000"/>
                </a:solidFill>
              </a:rPr>
              <a:t>circle</a:t>
            </a:r>
            <a:r>
              <a:rPr lang="ru-RU" sz="2400" b="1" dirty="0">
                <a:solidFill>
                  <a:srgbClr val="FF0000"/>
                </a:solidFill>
              </a:rPr>
              <a:t>()</a:t>
            </a:r>
            <a:r>
              <a:rPr lang="ru-RU" sz="2400" dirty="0"/>
              <a:t>, в который нужно передать радиус окружности: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18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D9B404-F223-4332-A509-9912C1DEF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93" y="1909584"/>
            <a:ext cx="8166831" cy="420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79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Перемещение без рисования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/>
              <a:t>Иногда бывает нужно </a:t>
            </a:r>
            <a:r>
              <a:rPr lang="ru-RU" sz="2400" b="1" dirty="0"/>
              <a:t>перемещать</a:t>
            </a:r>
            <a:r>
              <a:rPr lang="ru-RU" sz="2400" dirty="0"/>
              <a:t> черепашку, </a:t>
            </a:r>
            <a:r>
              <a:rPr lang="ru-RU" sz="2400" b="1" dirty="0"/>
              <a:t>но не рисовать </a:t>
            </a:r>
            <a:r>
              <a:rPr lang="ru-RU" sz="2400" dirty="0"/>
              <a:t>при этом </a:t>
            </a:r>
            <a:r>
              <a:rPr lang="ru-RU" sz="2400" b="1" dirty="0"/>
              <a:t>линию</a:t>
            </a:r>
            <a:r>
              <a:rPr lang="ru-RU" sz="2400" dirty="0"/>
              <a:t>. Для этого используем команды:</a:t>
            </a:r>
          </a:p>
          <a:p>
            <a:pPr>
              <a:spcBef>
                <a:spcPts val="600"/>
              </a:spcBef>
            </a:pPr>
            <a:r>
              <a:rPr lang="ru-RU" sz="2400" b="1" dirty="0" err="1">
                <a:solidFill>
                  <a:srgbClr val="FF0000"/>
                </a:solidFill>
              </a:rPr>
              <a:t>penup</a:t>
            </a:r>
            <a:r>
              <a:rPr lang="ru-RU" sz="2400" b="1" dirty="0">
                <a:solidFill>
                  <a:srgbClr val="FF0000"/>
                </a:solidFill>
              </a:rPr>
              <a:t>() </a:t>
            </a:r>
            <a:r>
              <a:rPr lang="ru-RU" sz="2400" dirty="0"/>
              <a:t>— </a:t>
            </a:r>
            <a:r>
              <a:rPr lang="ru-RU" sz="2400" b="1" u="sng" dirty="0"/>
              <a:t>поднимает</a:t>
            </a:r>
            <a:r>
              <a:rPr lang="ru-RU" sz="2400" dirty="0"/>
              <a:t> перо, и черепашка </a:t>
            </a:r>
            <a:r>
              <a:rPr lang="ru-RU" sz="2400" b="1" u="sng" dirty="0"/>
              <a:t>перестаёт рисовать</a:t>
            </a:r>
            <a:r>
              <a:rPr lang="ru-RU" sz="2400" dirty="0"/>
              <a:t>.</a:t>
            </a:r>
          </a:p>
          <a:p>
            <a:pPr>
              <a:spcBef>
                <a:spcPts val="600"/>
              </a:spcBef>
            </a:pPr>
            <a:r>
              <a:rPr lang="ru-RU" sz="2400" b="1" dirty="0" err="1">
                <a:solidFill>
                  <a:srgbClr val="FF0000"/>
                </a:solidFill>
              </a:rPr>
              <a:t>pendown</a:t>
            </a:r>
            <a:r>
              <a:rPr lang="ru-RU" sz="2400" b="1" dirty="0">
                <a:solidFill>
                  <a:srgbClr val="FF0000"/>
                </a:solidFill>
              </a:rPr>
              <a:t>() </a:t>
            </a:r>
            <a:r>
              <a:rPr lang="ru-RU" sz="2400" dirty="0"/>
              <a:t>— </a:t>
            </a:r>
            <a:r>
              <a:rPr lang="ru-RU" sz="2400" b="1" u="sng" dirty="0"/>
              <a:t>опускает</a:t>
            </a:r>
            <a:r>
              <a:rPr lang="ru-RU" sz="2400" dirty="0"/>
              <a:t> перо, и черепашка снова </a:t>
            </a:r>
            <a:r>
              <a:rPr lang="ru-RU" sz="2400" b="1" u="sng" dirty="0"/>
              <a:t>начинает рисовать</a:t>
            </a:r>
            <a:r>
              <a:rPr lang="ru-RU" sz="2400" dirty="0"/>
              <a:t>.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19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694249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 smtClean="0"/>
              <a:t>Немного практики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 smtClean="0"/>
              <a:t>Давайте нарисуем простую снежинку</a:t>
            </a:r>
            <a:r>
              <a:rPr lang="ru-RU" sz="2400" dirty="0"/>
              <a:t>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20</a:t>
            </a:fld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745" y="1341536"/>
            <a:ext cx="4890077" cy="492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31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 smtClean="0"/>
              <a:t>Немного практики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600"/>
              </a:spcBef>
              <a:buNone/>
            </a:pPr>
            <a:r>
              <a:rPr lang="ru-RU" sz="2400" dirty="0" smtClean="0"/>
              <a:t>Давайте нарисуем простую снежинку</a:t>
            </a:r>
            <a:r>
              <a:rPr lang="ru-RU" sz="2400" dirty="0"/>
              <a:t>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21</a:t>
            </a:fld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176846" cy="683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25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FE7-A3CC-47A6-B41B-AF10A862E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  Списки в Python — работа с коллекциями данных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22F94E-2FDF-4C12-810D-4E517C9F6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B0B74BF-12D0-49B1-891E-E03AAA4A4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202" y="3946411"/>
            <a:ext cx="2454387" cy="24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704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Что такое списки?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800"/>
              </a:spcBef>
              <a:buNone/>
            </a:pPr>
            <a:r>
              <a:rPr lang="en-US" sz="2400" b="1" dirty="0" smtClean="0"/>
              <a:t>C</a:t>
            </a:r>
            <a:r>
              <a:rPr lang="ru-RU" sz="2400" b="1" dirty="0" smtClean="0"/>
              <a:t>писки </a:t>
            </a:r>
            <a:r>
              <a:rPr lang="ru-RU" sz="2400" dirty="0"/>
              <a:t>— это специальные структуры, которые позволяют хранить сразу несколько значений в одной переменной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marL="45720" indent="0">
              <a:spcBef>
                <a:spcPts val="800"/>
              </a:spcBef>
              <a:buNone/>
            </a:pPr>
            <a:endParaRPr lang="en-US" sz="2400" dirty="0"/>
          </a:p>
          <a:p>
            <a:pPr marL="45720" indent="0">
              <a:spcBef>
                <a:spcPts val="800"/>
              </a:spcBef>
              <a:buNone/>
            </a:pPr>
            <a:endParaRPr lang="en-US" sz="2400" dirty="0" smtClean="0"/>
          </a:p>
          <a:p>
            <a:pPr marL="45720" indent="0">
              <a:spcBef>
                <a:spcPts val="800"/>
              </a:spcBef>
              <a:buNone/>
            </a:pPr>
            <a:endParaRPr lang="en-US" sz="2400" dirty="0" smtClean="0"/>
          </a:p>
          <a:p>
            <a:pPr marL="45720" indent="0">
              <a:spcBef>
                <a:spcPts val="800"/>
              </a:spcBef>
              <a:buNone/>
            </a:pPr>
            <a:endParaRPr lang="en-US" sz="2400" dirty="0"/>
          </a:p>
          <a:p>
            <a:pPr marL="45720" indent="0">
              <a:spcBef>
                <a:spcPts val="800"/>
              </a:spcBef>
              <a:buNone/>
            </a:pPr>
            <a:r>
              <a:rPr lang="ru-RU" sz="2400" dirty="0" smtClean="0"/>
              <a:t>Здесь </a:t>
            </a:r>
            <a:r>
              <a:rPr lang="ru-RU" sz="2400" dirty="0" err="1"/>
              <a:t>names</a:t>
            </a:r>
            <a:r>
              <a:rPr lang="ru-RU" sz="2400" dirty="0"/>
              <a:t> — это список, содержащий три строки: «Аня », «Боря» и «Вика</a:t>
            </a:r>
            <a:r>
              <a:rPr lang="ru-RU" sz="2400" dirty="0" smtClean="0"/>
              <a:t>».</a:t>
            </a:r>
            <a:endParaRPr lang="en-US" sz="2400" dirty="0" smtClean="0"/>
          </a:p>
          <a:p>
            <a:pPr marL="45720" indent="0">
              <a:spcBef>
                <a:spcPts val="800"/>
              </a:spcBef>
              <a:buNone/>
            </a:pPr>
            <a:r>
              <a:rPr lang="ru-RU" sz="2400" dirty="0"/>
              <a:t>Список обозначается квадратными скобками </a:t>
            </a:r>
            <a:r>
              <a:rPr lang="ru-RU" sz="2400" b="1" dirty="0"/>
              <a:t>[]</a:t>
            </a:r>
            <a:r>
              <a:rPr lang="ru-RU" sz="2400" dirty="0"/>
              <a:t>. Внутри скобок перечислены элементы (значения), через </a:t>
            </a:r>
            <a:r>
              <a:rPr lang="ru-RU" sz="2400" dirty="0" smtClean="0"/>
              <a:t>запятую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23</a:t>
            </a:fld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83" y="2151586"/>
            <a:ext cx="11868979" cy="87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23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Где применяются списки?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800"/>
              </a:spcBef>
              <a:buNone/>
            </a:pPr>
            <a:r>
              <a:rPr lang="ru-RU" sz="2800" b="1" dirty="0"/>
              <a:t>Списки</a:t>
            </a:r>
            <a:r>
              <a:rPr lang="ru-RU" sz="2800" dirty="0"/>
              <a:t> — это универсальный инструмент, который используется</a:t>
            </a:r>
            <a:r>
              <a:rPr lang="ru-RU" sz="2800" dirty="0" smtClean="0"/>
              <a:t>:</a:t>
            </a:r>
            <a:endParaRPr lang="ru-RU" sz="2800" dirty="0"/>
          </a:p>
          <a:p>
            <a:pPr>
              <a:spcBef>
                <a:spcPts val="800"/>
              </a:spcBef>
            </a:pPr>
            <a:r>
              <a:rPr lang="ru-RU" sz="2800" dirty="0"/>
              <a:t>для хранения списка </a:t>
            </a:r>
            <a:r>
              <a:rPr lang="ru-RU" sz="2800" dirty="0" smtClean="0"/>
              <a:t>учеников</a:t>
            </a:r>
            <a:endParaRPr lang="ru-RU" sz="2800" dirty="0"/>
          </a:p>
          <a:p>
            <a:pPr>
              <a:spcBef>
                <a:spcPts val="800"/>
              </a:spcBef>
            </a:pPr>
            <a:r>
              <a:rPr lang="ru-RU" sz="2800" dirty="0"/>
              <a:t>результатов </a:t>
            </a:r>
            <a:r>
              <a:rPr lang="ru-RU" sz="2800" dirty="0" smtClean="0"/>
              <a:t>теста</a:t>
            </a:r>
            <a:endParaRPr lang="ru-RU" sz="2800" dirty="0"/>
          </a:p>
          <a:p>
            <a:pPr>
              <a:spcBef>
                <a:spcPts val="800"/>
              </a:spcBef>
            </a:pPr>
            <a:r>
              <a:rPr lang="ru-RU" sz="2800" dirty="0"/>
              <a:t>шагов в </a:t>
            </a:r>
            <a:r>
              <a:rPr lang="ru-RU" sz="2800" dirty="0" smtClean="0"/>
              <a:t>алгоритме</a:t>
            </a:r>
            <a:endParaRPr lang="ru-RU" sz="2800" dirty="0"/>
          </a:p>
          <a:p>
            <a:pPr>
              <a:spcBef>
                <a:spcPts val="800"/>
              </a:spcBef>
            </a:pPr>
            <a:r>
              <a:rPr lang="ru-RU" sz="2800" dirty="0"/>
              <a:t>игровых объектов (например, список врагов</a:t>
            </a:r>
            <a:r>
              <a:rPr lang="ru-RU" sz="2800" dirty="0" smtClean="0"/>
              <a:t>)</a:t>
            </a:r>
            <a:endParaRPr lang="ru-RU" sz="2800" dirty="0"/>
          </a:p>
          <a:p>
            <a:pPr>
              <a:spcBef>
                <a:spcPts val="800"/>
              </a:spcBef>
            </a:pPr>
            <a:r>
              <a:rPr lang="ru-RU" sz="2800" dirty="0"/>
              <a:t>хранения введённых пользователем </a:t>
            </a:r>
            <a:r>
              <a:rPr lang="ru-RU" sz="2800" dirty="0" smtClean="0"/>
              <a:t>данных</a:t>
            </a:r>
            <a:endParaRPr lang="en-US" sz="2800" dirty="0" smtClean="0"/>
          </a:p>
          <a:p>
            <a:pPr>
              <a:spcBef>
                <a:spcPts val="800"/>
              </a:spcBef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24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37483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Как устроен список?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800"/>
              </a:spcBef>
              <a:buNone/>
            </a:pPr>
            <a:r>
              <a:rPr lang="ru-RU" sz="2400" dirty="0"/>
              <a:t>Списки могут содержать</a:t>
            </a:r>
            <a:r>
              <a:rPr lang="ru-RU" sz="2400" dirty="0" smtClean="0"/>
              <a:t>:</a:t>
            </a:r>
            <a:endParaRPr lang="ru-RU" sz="2400" dirty="0"/>
          </a:p>
          <a:p>
            <a:pPr>
              <a:spcBef>
                <a:spcPts val="800"/>
              </a:spcBef>
            </a:pPr>
            <a:r>
              <a:rPr lang="ru-RU" sz="2400" dirty="0"/>
              <a:t>ничего(пустой список)</a:t>
            </a:r>
          </a:p>
          <a:p>
            <a:pPr>
              <a:spcBef>
                <a:spcPts val="800"/>
              </a:spcBef>
            </a:pPr>
            <a:r>
              <a:rPr lang="ru-RU" sz="2400" dirty="0"/>
              <a:t>числа</a:t>
            </a:r>
          </a:p>
          <a:p>
            <a:pPr>
              <a:spcBef>
                <a:spcPts val="800"/>
              </a:spcBef>
            </a:pPr>
            <a:r>
              <a:rPr lang="ru-RU" sz="2400" dirty="0"/>
              <a:t>строки</a:t>
            </a:r>
          </a:p>
          <a:p>
            <a:pPr>
              <a:spcBef>
                <a:spcPts val="800"/>
              </a:spcBef>
            </a:pPr>
            <a:r>
              <a:rPr lang="ru-RU" sz="2400" dirty="0"/>
              <a:t>перемешанные типы данных</a:t>
            </a:r>
          </a:p>
          <a:p>
            <a:pPr>
              <a:spcBef>
                <a:spcPts val="800"/>
              </a:spcBef>
            </a:pPr>
            <a:r>
              <a:rPr lang="ru-RU" sz="2400" dirty="0"/>
              <a:t>даже другие списки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25</a:t>
            </a:fld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95" y="3563565"/>
            <a:ext cx="10279131" cy="28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97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Что такое индекс?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spcBef>
                <a:spcPts val="800"/>
              </a:spcBef>
              <a:buNone/>
            </a:pPr>
            <a:r>
              <a:rPr lang="ru-RU" sz="2400" dirty="0"/>
              <a:t>Чтобы получить доступ к отдельному элементу списка, мы используем индекс. </a:t>
            </a:r>
            <a:r>
              <a:rPr lang="ru-RU" sz="2400" b="1" dirty="0"/>
              <a:t>Индекс</a:t>
            </a:r>
            <a:r>
              <a:rPr lang="ru-RU" sz="2400" dirty="0"/>
              <a:t> — это номер элемента в списке. В </a:t>
            </a:r>
            <a:r>
              <a:rPr lang="ru-RU" sz="2400" dirty="0" err="1"/>
              <a:t>Python</a:t>
            </a:r>
            <a:r>
              <a:rPr lang="ru-RU" sz="2400" dirty="0"/>
              <a:t> нумерация </a:t>
            </a:r>
            <a:r>
              <a:rPr lang="ru-RU" sz="2400" dirty="0" smtClean="0"/>
              <a:t>начинается </a:t>
            </a:r>
            <a:r>
              <a:rPr lang="ru-RU" sz="2400" dirty="0"/>
              <a:t>с </a:t>
            </a:r>
            <a:r>
              <a:rPr lang="ru-RU" sz="2400" b="1" dirty="0"/>
              <a:t>нуля</a:t>
            </a:r>
            <a:r>
              <a:rPr lang="ru-RU" sz="2400" dirty="0" smtClean="0"/>
              <a:t>!</a:t>
            </a:r>
          </a:p>
          <a:p>
            <a:pPr marL="45720" indent="0">
              <a:spcBef>
                <a:spcPts val="800"/>
              </a:spcBef>
              <a:buNone/>
            </a:pPr>
            <a:endParaRPr lang="ru-RU" sz="2400" dirty="0"/>
          </a:p>
          <a:p>
            <a:pPr marL="45720" indent="0">
              <a:spcBef>
                <a:spcPts val="800"/>
              </a:spcBef>
              <a:buNone/>
            </a:pPr>
            <a:endParaRPr lang="ru-RU" sz="2400" dirty="0" smtClean="0"/>
          </a:p>
          <a:p>
            <a:pPr marL="45720" indent="0">
              <a:spcBef>
                <a:spcPts val="800"/>
              </a:spcBef>
              <a:buNone/>
            </a:pPr>
            <a:endParaRPr lang="ru-RU" sz="2400" dirty="0"/>
          </a:p>
          <a:p>
            <a:pPr marL="45720" indent="0">
              <a:spcBef>
                <a:spcPts val="800"/>
              </a:spcBef>
              <a:buNone/>
            </a:pPr>
            <a:endParaRPr lang="ru-RU" sz="2400" dirty="0" smtClean="0"/>
          </a:p>
          <a:p>
            <a:pPr marL="45720" indent="0">
              <a:spcBef>
                <a:spcPts val="800"/>
              </a:spcBef>
              <a:buNone/>
            </a:pPr>
            <a:endParaRPr lang="ru-RU" sz="2400" dirty="0"/>
          </a:p>
          <a:p>
            <a:pPr marL="45720" indent="0">
              <a:spcBef>
                <a:spcPts val="800"/>
              </a:spcBef>
              <a:buNone/>
            </a:pPr>
            <a:endParaRPr lang="ru-RU" sz="2400" dirty="0" smtClean="0"/>
          </a:p>
          <a:p>
            <a:pPr marL="45720" indent="0">
              <a:spcBef>
                <a:spcPts val="800"/>
              </a:spcBef>
              <a:buNone/>
            </a:pPr>
            <a:endParaRPr lang="ru-RU" sz="2400" dirty="0"/>
          </a:p>
          <a:p>
            <a:pPr marL="45720" indent="0">
              <a:spcBef>
                <a:spcPts val="800"/>
              </a:spcBef>
              <a:buNone/>
            </a:pPr>
            <a:r>
              <a:rPr lang="ru-RU" dirty="0"/>
              <a:t>Это исторически сложилось из математики и работы с памятью в компьютерах. Первый элемент находится на 0-м шаге от начала. Это удобно для программистов и экономит ресурсы.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26</a:t>
            </a:fld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07" y="1729555"/>
            <a:ext cx="10661039" cy="2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3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Синтаксис работы с индексами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endParaRPr lang="ru-RU" dirty="0"/>
          </a:p>
          <a:p>
            <a:r>
              <a:rPr lang="ru-RU" dirty="0"/>
              <a:t>список[0] — первый элемент</a:t>
            </a:r>
          </a:p>
          <a:p>
            <a:r>
              <a:rPr lang="ru-RU" dirty="0"/>
              <a:t>список[1] — второй элемент</a:t>
            </a:r>
          </a:p>
          <a:p>
            <a:r>
              <a:rPr lang="ru-RU" dirty="0"/>
              <a:t>и так далее</a:t>
            </a:r>
          </a:p>
          <a:p>
            <a:pPr marL="45720" indent="0">
              <a:buNone/>
            </a:pPr>
            <a:r>
              <a:rPr lang="ru-RU" dirty="0"/>
              <a:t>Вы также можете использовать отрицательные индексы: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27</a:t>
            </a:fld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10775" b="17236"/>
          <a:stretch/>
        </p:blipFill>
        <p:spPr>
          <a:xfrm>
            <a:off x="589230" y="1245978"/>
            <a:ext cx="8115173" cy="68833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377" y="3894062"/>
            <a:ext cx="11745243" cy="12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179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Что можно делать со списками</a:t>
            </a:r>
            <a:r>
              <a:rPr lang="ru-RU" dirty="0" smtClean="0"/>
              <a:t>?</a:t>
            </a:r>
            <a:r>
              <a:rPr lang="ru-RU" dirty="0"/>
              <a:t> </a:t>
            </a:r>
            <a:r>
              <a:rPr lang="ru-RU" b="1" dirty="0" err="1">
                <a:solidFill>
                  <a:srgbClr val="FF0000"/>
                </a:solidFill>
              </a:rPr>
              <a:t>append</a:t>
            </a:r>
            <a:r>
              <a:rPr lang="ru-RU" b="1" dirty="0">
                <a:solidFill>
                  <a:srgbClr val="FF0000"/>
                </a:solidFill>
              </a:rPr>
              <a:t>() 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sz="2400" dirty="0"/>
              <a:t>Списки обладают множеством </a:t>
            </a:r>
            <a:r>
              <a:rPr lang="ru-RU" sz="2400" b="1" u="sng" dirty="0"/>
              <a:t>методов</a:t>
            </a:r>
            <a:r>
              <a:rPr lang="ru-RU" sz="2400" dirty="0"/>
              <a:t> — специальных встроенных команд, которые позволяют изменять, сортировать, добавлять и удалять элементы. Рассмотрим их по порядку с объяснениями</a:t>
            </a:r>
            <a:r>
              <a:rPr lang="ru-RU" sz="2400" dirty="0" smtClean="0"/>
              <a:t>.</a:t>
            </a:r>
          </a:p>
          <a:p>
            <a:pPr marL="45720" indent="0">
              <a:buNone/>
            </a:pPr>
            <a:r>
              <a:rPr lang="ru-RU" sz="2400" dirty="0"/>
              <a:t>1. </a:t>
            </a:r>
            <a:r>
              <a:rPr lang="ru-RU" sz="2400" b="1" dirty="0" err="1">
                <a:solidFill>
                  <a:srgbClr val="FF0000"/>
                </a:solidFill>
              </a:rPr>
              <a:t>append</a:t>
            </a:r>
            <a:r>
              <a:rPr lang="ru-RU" sz="2400" b="1" dirty="0" smtClean="0">
                <a:solidFill>
                  <a:srgbClr val="FF0000"/>
                </a:solidFill>
              </a:rPr>
              <a:t>()     </a:t>
            </a:r>
            <a:r>
              <a:rPr lang="ru-RU" sz="2400" dirty="0" smtClean="0"/>
              <a:t>Добавляет элемент </a:t>
            </a:r>
            <a:r>
              <a:rPr lang="ru-RU" sz="2400" dirty="0"/>
              <a:t>в конец списка</a:t>
            </a:r>
            <a:r>
              <a:rPr lang="ru-RU" sz="2400" dirty="0" smtClean="0"/>
              <a:t>.</a:t>
            </a:r>
          </a:p>
          <a:p>
            <a:pPr marL="45720" indent="0">
              <a:buNone/>
            </a:pPr>
            <a:endParaRPr lang="ru-RU" sz="2400" dirty="0" smtClean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 smtClean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b="1" dirty="0" smtClean="0">
              <a:solidFill>
                <a:srgbClr val="FF0000"/>
              </a:solidFill>
            </a:endParaRPr>
          </a:p>
          <a:p>
            <a:pPr marL="45720" indent="0">
              <a:buNone/>
            </a:pPr>
            <a:endParaRPr lang="ru-RU" sz="2400" b="1" dirty="0">
              <a:solidFill>
                <a:srgbClr val="FF0000"/>
              </a:solidFill>
            </a:endParaRPr>
          </a:p>
          <a:p>
            <a:pPr marL="45720" indent="0">
              <a:buNone/>
            </a:pPr>
            <a:r>
              <a:rPr lang="ru-RU" sz="2400" b="1" dirty="0" err="1" smtClean="0">
                <a:solidFill>
                  <a:srgbClr val="FF0000"/>
                </a:solidFill>
              </a:rPr>
              <a:t>append</a:t>
            </a:r>
            <a:r>
              <a:rPr lang="ru-RU" sz="2400" b="1" dirty="0">
                <a:solidFill>
                  <a:srgbClr val="FF0000"/>
                </a:solidFill>
              </a:rPr>
              <a:t>() </a:t>
            </a:r>
            <a:r>
              <a:rPr lang="ru-RU" sz="2400" dirty="0"/>
              <a:t>— это как «приклеить» новый элемент в конец списка. Он ничего не возвращает, просто изменяет список.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28</a:t>
            </a:fld>
            <a:endParaRPr lang="ru-RU" sz="2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19" y="2629596"/>
            <a:ext cx="11842529" cy="226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08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Что можно делать со списками</a:t>
            </a:r>
            <a:r>
              <a:rPr lang="ru-RU" dirty="0" smtClean="0"/>
              <a:t>? </a:t>
            </a:r>
            <a:r>
              <a:rPr lang="ru-RU" b="1" dirty="0" err="1">
                <a:solidFill>
                  <a:srgbClr val="FF0000"/>
                </a:solidFill>
              </a:rPr>
              <a:t>insert</a:t>
            </a:r>
            <a:r>
              <a:rPr lang="ru-RU" b="1" dirty="0">
                <a:solidFill>
                  <a:srgbClr val="FF0000"/>
                </a:solidFill>
              </a:rPr>
              <a:t>() 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800" dirty="0" smtClean="0"/>
              <a:t>2. </a:t>
            </a:r>
            <a:r>
              <a:rPr lang="ru-RU" sz="2800" b="1" dirty="0" err="1" smtClean="0">
                <a:solidFill>
                  <a:srgbClr val="FF0000"/>
                </a:solidFill>
              </a:rPr>
              <a:t>insert</a:t>
            </a:r>
            <a:r>
              <a:rPr lang="ru-RU" sz="2800" b="1" dirty="0" smtClean="0">
                <a:solidFill>
                  <a:srgbClr val="FF0000"/>
                </a:solidFill>
              </a:rPr>
              <a:t>()       </a:t>
            </a:r>
            <a:r>
              <a:rPr lang="ru-RU" sz="2800" dirty="0" smtClean="0"/>
              <a:t>Вставляет элемент в нужное место по индексу.</a:t>
            </a:r>
          </a:p>
          <a:p>
            <a:pPr marL="45720" indent="0">
              <a:buNone/>
            </a:pPr>
            <a:endParaRPr lang="ru-RU" sz="2800" dirty="0"/>
          </a:p>
          <a:p>
            <a:pPr marL="45720" indent="0">
              <a:buNone/>
            </a:pPr>
            <a:endParaRPr lang="ru-RU" sz="2800" dirty="0"/>
          </a:p>
          <a:p>
            <a:pPr marL="45720" indent="0">
              <a:buNone/>
            </a:pPr>
            <a:r>
              <a:rPr lang="ru-RU" sz="2800" b="1" dirty="0" err="1">
                <a:solidFill>
                  <a:srgbClr val="FF0000"/>
                </a:solidFill>
              </a:rPr>
              <a:t>insert</a:t>
            </a:r>
            <a:r>
              <a:rPr lang="ru-RU" sz="2800" b="1" dirty="0">
                <a:solidFill>
                  <a:srgbClr val="FF0000"/>
                </a:solidFill>
              </a:rPr>
              <a:t>(1, «вишня»)</a:t>
            </a:r>
            <a:r>
              <a:rPr lang="ru-RU" sz="2800" dirty="0"/>
              <a:t> вставит «вишня» перед элементом с индексом 1. Все элементы сдвинутся вправо</a:t>
            </a:r>
            <a:r>
              <a:rPr lang="ru-RU" sz="2800" dirty="0" smtClean="0"/>
              <a:t>.</a:t>
            </a: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29</a:t>
            </a:fld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38" y="1445557"/>
            <a:ext cx="11746721" cy="111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07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76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Что можно делать со списками</a:t>
            </a:r>
            <a:r>
              <a:rPr lang="ru-RU" dirty="0" smtClean="0"/>
              <a:t>?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err="1">
                <a:solidFill>
                  <a:srgbClr val="FF0000"/>
                </a:solidFill>
              </a:rPr>
              <a:t>remove</a:t>
            </a:r>
            <a:r>
              <a:rPr lang="ru-RU" b="1" dirty="0">
                <a:solidFill>
                  <a:srgbClr val="FF0000"/>
                </a:solidFill>
              </a:rPr>
              <a:t>() 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800" dirty="0" smtClean="0"/>
              <a:t>3</a:t>
            </a:r>
            <a:r>
              <a:rPr lang="ru-RU" sz="2800" dirty="0"/>
              <a:t>. </a:t>
            </a:r>
            <a:r>
              <a:rPr lang="ru-RU" sz="2800" b="1" dirty="0" err="1">
                <a:solidFill>
                  <a:srgbClr val="FF0000"/>
                </a:solidFill>
              </a:rPr>
              <a:t>remove</a:t>
            </a:r>
            <a:r>
              <a:rPr lang="ru-RU" sz="2800" b="1" dirty="0" smtClean="0">
                <a:solidFill>
                  <a:srgbClr val="FF0000"/>
                </a:solidFill>
              </a:rPr>
              <a:t>()         </a:t>
            </a:r>
            <a:r>
              <a:rPr lang="ru-RU" sz="2800" dirty="0" smtClean="0"/>
              <a:t>Удаляет </a:t>
            </a:r>
            <a:r>
              <a:rPr lang="ru-RU" sz="2800" dirty="0"/>
              <a:t>первое вхождение элемента</a:t>
            </a:r>
            <a:r>
              <a:rPr lang="ru-RU" sz="2800" dirty="0" smtClean="0"/>
              <a:t>.</a:t>
            </a:r>
          </a:p>
          <a:p>
            <a:pPr marL="45720" indent="0">
              <a:buNone/>
            </a:pPr>
            <a:endParaRPr lang="ru-RU" sz="2800" dirty="0"/>
          </a:p>
          <a:p>
            <a:pPr marL="45720" indent="0">
              <a:buNone/>
            </a:pPr>
            <a:endParaRPr lang="ru-RU" sz="2800" dirty="0" smtClean="0"/>
          </a:p>
          <a:p>
            <a:pPr marL="45720" indent="0">
              <a:buNone/>
            </a:pPr>
            <a:endParaRPr lang="ru-RU" sz="2800" dirty="0"/>
          </a:p>
          <a:p>
            <a:pPr marL="45720" indent="0">
              <a:buNone/>
            </a:pPr>
            <a:r>
              <a:rPr lang="ru-RU" sz="2800" b="1" dirty="0" err="1">
                <a:solidFill>
                  <a:srgbClr val="FF0000"/>
                </a:solidFill>
              </a:rPr>
              <a:t>remove</a:t>
            </a:r>
            <a:r>
              <a:rPr lang="ru-RU" sz="2800" b="1" dirty="0">
                <a:solidFill>
                  <a:srgbClr val="FF0000"/>
                </a:solidFill>
              </a:rPr>
              <a:t>() </a:t>
            </a:r>
            <a:r>
              <a:rPr lang="ru-RU" sz="2800" dirty="0"/>
              <a:t>ищет первое совпадение и удаляет его. Если элемента нет, будет ошибка.</a:t>
            </a:r>
          </a:p>
          <a:p>
            <a:pPr marL="45720" indent="0">
              <a:buNone/>
            </a:pPr>
            <a:endParaRPr lang="ru-RU" sz="2800" dirty="0"/>
          </a:p>
          <a:p>
            <a:pPr marL="45720" indent="0">
              <a:buNone/>
            </a:pPr>
            <a:endParaRPr lang="ru-RU" sz="2800" dirty="0" smtClean="0"/>
          </a:p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30</a:t>
            </a:fld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20" y="1568277"/>
            <a:ext cx="11380403" cy="129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605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76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Что можно делать со </a:t>
            </a:r>
            <a:r>
              <a:rPr lang="ru-RU" dirty="0" smtClean="0"/>
              <a:t>списками?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err="1">
                <a:solidFill>
                  <a:srgbClr val="FF0000"/>
                </a:solidFill>
              </a:rPr>
              <a:t>pop</a:t>
            </a:r>
            <a:r>
              <a:rPr lang="ru-RU" b="1" dirty="0">
                <a:solidFill>
                  <a:srgbClr val="FF0000"/>
                </a:solidFill>
              </a:rPr>
              <a:t>() 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800" dirty="0"/>
              <a:t>4. </a:t>
            </a:r>
            <a:r>
              <a:rPr lang="ru-RU" sz="2800" b="1" dirty="0" err="1">
                <a:solidFill>
                  <a:srgbClr val="FF0000"/>
                </a:solidFill>
              </a:rPr>
              <a:t>pop</a:t>
            </a:r>
            <a:r>
              <a:rPr lang="ru-RU" sz="2800" b="1" dirty="0" smtClean="0">
                <a:solidFill>
                  <a:srgbClr val="FF0000"/>
                </a:solidFill>
              </a:rPr>
              <a:t>()          </a:t>
            </a:r>
            <a:r>
              <a:rPr lang="ru-RU" sz="2800" dirty="0" smtClean="0"/>
              <a:t>Удаляет </a:t>
            </a:r>
            <a:r>
              <a:rPr lang="ru-RU" sz="2800" dirty="0"/>
              <a:t>элемент по индексу и возвращает его</a:t>
            </a:r>
            <a:r>
              <a:rPr lang="ru-RU" sz="2800" dirty="0" smtClean="0"/>
              <a:t>.</a:t>
            </a:r>
          </a:p>
          <a:p>
            <a:pPr marL="45720" indent="0">
              <a:buNone/>
            </a:pPr>
            <a:endParaRPr lang="ru-RU" sz="2800" dirty="0" smtClean="0"/>
          </a:p>
          <a:p>
            <a:pPr marL="45720" indent="0">
              <a:buNone/>
            </a:pPr>
            <a:endParaRPr lang="ru-RU" sz="2800" dirty="0"/>
          </a:p>
          <a:p>
            <a:pPr marL="45720" indent="0">
              <a:buNone/>
            </a:pPr>
            <a:endParaRPr lang="ru-RU" sz="2800" dirty="0" smtClean="0"/>
          </a:p>
          <a:p>
            <a:pPr marL="45720" indent="0">
              <a:buNone/>
            </a:pPr>
            <a:r>
              <a:rPr lang="ru-RU" sz="2800" dirty="0"/>
              <a:t>Без аргумента </a:t>
            </a:r>
            <a:r>
              <a:rPr lang="ru-RU" sz="2800" b="1" dirty="0" err="1">
                <a:solidFill>
                  <a:srgbClr val="FF0000"/>
                </a:solidFill>
              </a:rPr>
              <a:t>pop</a:t>
            </a:r>
            <a:r>
              <a:rPr lang="ru-RU" sz="2800" b="1" dirty="0">
                <a:solidFill>
                  <a:srgbClr val="FF0000"/>
                </a:solidFill>
              </a:rPr>
              <a:t>() </a:t>
            </a:r>
            <a:r>
              <a:rPr lang="ru-RU" sz="2800" dirty="0"/>
              <a:t>удаляет последний элемент. Если указать индекс — удалит элемент с этим индексом</a:t>
            </a:r>
            <a:r>
              <a:rPr lang="ru-RU" sz="2800" dirty="0" smtClean="0"/>
              <a:t>.</a:t>
            </a: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31</a:t>
            </a:fld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88" y="1520989"/>
            <a:ext cx="8087549" cy="166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8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76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Что можно делать со списками</a:t>
            </a:r>
            <a:r>
              <a:rPr lang="ru-RU" dirty="0" smtClean="0"/>
              <a:t>?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err="1">
                <a:solidFill>
                  <a:srgbClr val="FF0000"/>
                </a:solidFill>
              </a:rPr>
              <a:t>len</a:t>
            </a:r>
            <a:r>
              <a:rPr lang="ru-RU" b="1" dirty="0">
                <a:solidFill>
                  <a:srgbClr val="FF0000"/>
                </a:solidFill>
              </a:rPr>
              <a:t>() 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800" dirty="0" smtClean="0"/>
              <a:t>5</a:t>
            </a:r>
            <a:r>
              <a:rPr lang="ru-RU" sz="2800" dirty="0"/>
              <a:t>. </a:t>
            </a:r>
            <a:r>
              <a:rPr lang="ru-RU" sz="2800" b="1" dirty="0" err="1">
                <a:solidFill>
                  <a:srgbClr val="FF0000"/>
                </a:solidFill>
              </a:rPr>
              <a:t>len</a:t>
            </a:r>
            <a:r>
              <a:rPr lang="ru-RU" sz="2800" b="1" dirty="0" smtClean="0">
                <a:solidFill>
                  <a:srgbClr val="FF0000"/>
                </a:solidFill>
              </a:rPr>
              <a:t>()           </a:t>
            </a:r>
            <a:r>
              <a:rPr lang="ru-RU" sz="2800" dirty="0" smtClean="0"/>
              <a:t>Функция </a:t>
            </a:r>
            <a:r>
              <a:rPr lang="ru-RU" sz="2800" dirty="0" err="1"/>
              <a:t>len</a:t>
            </a:r>
            <a:r>
              <a:rPr lang="ru-RU" sz="2800" dirty="0"/>
              <a:t>() возвращает количество элементов в списке.</a:t>
            </a:r>
          </a:p>
          <a:p>
            <a:pPr marL="45720" indent="0">
              <a:buNone/>
            </a:pPr>
            <a:endParaRPr lang="ru-RU" sz="2400" dirty="0" smtClean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 smtClean="0"/>
          </a:p>
          <a:p>
            <a:pPr marL="45720" indent="0">
              <a:buNone/>
            </a:pPr>
            <a:r>
              <a:rPr lang="ru-RU" sz="2400" dirty="0" smtClean="0"/>
              <a:t>Очень </a:t>
            </a:r>
            <a:r>
              <a:rPr lang="ru-RU" sz="2400" dirty="0"/>
              <a:t>полезно, когда нужно узнать длину списка, например, в цикле.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32</a:t>
            </a:fld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32" y="1553318"/>
            <a:ext cx="11886946" cy="126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79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76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Что можно делать со списками</a:t>
            </a:r>
            <a:r>
              <a:rPr lang="ru-RU" dirty="0" smtClean="0"/>
              <a:t>?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800" dirty="0"/>
              <a:t>6. </a:t>
            </a:r>
            <a:r>
              <a:rPr lang="ru-RU" sz="2800" b="1" dirty="0" err="1">
                <a:solidFill>
                  <a:srgbClr val="FF0000"/>
                </a:solidFill>
              </a:rPr>
              <a:t>sort</a:t>
            </a:r>
            <a:r>
              <a:rPr lang="ru-RU" sz="2800" b="1" dirty="0">
                <a:solidFill>
                  <a:srgbClr val="FF0000"/>
                </a:solidFill>
              </a:rPr>
              <a:t>() и </a:t>
            </a:r>
            <a:r>
              <a:rPr lang="ru-RU" sz="2800" b="1" dirty="0" err="1">
                <a:solidFill>
                  <a:srgbClr val="FF0000"/>
                </a:solidFill>
              </a:rPr>
              <a:t>reverse</a:t>
            </a:r>
            <a:r>
              <a:rPr lang="ru-RU" sz="2800" b="1" dirty="0" smtClean="0">
                <a:solidFill>
                  <a:srgbClr val="FF0000"/>
                </a:solidFill>
              </a:rPr>
              <a:t>()  </a:t>
            </a:r>
            <a:r>
              <a:rPr lang="ru-RU" sz="2800" dirty="0" smtClean="0"/>
              <a:t>              Сортируют </a:t>
            </a:r>
            <a:r>
              <a:rPr lang="ru-RU" sz="2800" dirty="0"/>
              <a:t>и переворачивают список.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33</a:t>
            </a:fld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67" y="1524322"/>
            <a:ext cx="11148333" cy="407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14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76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Цикл </a:t>
            </a:r>
            <a:r>
              <a:rPr lang="ru-RU" dirty="0" err="1"/>
              <a:t>for</a:t>
            </a:r>
            <a:r>
              <a:rPr lang="ru-RU" dirty="0"/>
              <a:t> — перебор элементов списка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sz="2400" dirty="0"/>
              <a:t>Если у нас список из 100 элементов, и нам нужно вывести все — писать 100 строк с </a:t>
            </a:r>
            <a:r>
              <a:rPr lang="ru-RU" sz="2400" dirty="0" err="1"/>
              <a:t>print</a:t>
            </a:r>
            <a:r>
              <a:rPr lang="ru-RU" sz="2400" dirty="0"/>
              <a:t>(</a:t>
            </a:r>
            <a:r>
              <a:rPr lang="ru-RU" sz="2400" dirty="0" err="1"/>
              <a:t>list</a:t>
            </a:r>
            <a:r>
              <a:rPr lang="ru-RU" sz="2400" dirty="0"/>
              <a:t>[0]), </a:t>
            </a:r>
            <a:r>
              <a:rPr lang="ru-RU" sz="2400" dirty="0" err="1"/>
              <a:t>print</a:t>
            </a:r>
            <a:r>
              <a:rPr lang="ru-RU" sz="2400" dirty="0"/>
              <a:t>(</a:t>
            </a:r>
            <a:r>
              <a:rPr lang="ru-RU" sz="2400" dirty="0" err="1"/>
              <a:t>list</a:t>
            </a:r>
            <a:r>
              <a:rPr lang="ru-RU" sz="2400" dirty="0"/>
              <a:t>[1]) и так далее — это нереально</a:t>
            </a:r>
            <a:r>
              <a:rPr lang="ru-RU" sz="2400" dirty="0" smtClean="0"/>
              <a:t>.</a:t>
            </a: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Для этого есть циклы — чтобы автоматически повторять действия</a:t>
            </a:r>
            <a:r>
              <a:rPr lang="ru-RU" sz="2400" dirty="0" smtClean="0"/>
              <a:t>.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 smtClean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 smtClean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 smtClean="0"/>
          </a:p>
          <a:p>
            <a:pPr marL="45720" indent="0">
              <a:buNone/>
            </a:pPr>
            <a:endParaRPr lang="ru-RU" sz="2400" dirty="0" smtClean="0"/>
          </a:p>
          <a:p>
            <a:pPr marL="45720" indent="0">
              <a:buNone/>
            </a:pPr>
            <a:r>
              <a:rPr lang="ru-RU" sz="2400" dirty="0" err="1" smtClean="0"/>
              <a:t>Python</a:t>
            </a:r>
            <a:r>
              <a:rPr lang="ru-RU" sz="2400" dirty="0" smtClean="0"/>
              <a:t> </a:t>
            </a:r>
            <a:r>
              <a:rPr lang="ru-RU" sz="2400" dirty="0"/>
              <a:t>по очереди берёт каждый элемент из списка </a:t>
            </a:r>
            <a:r>
              <a:rPr lang="ru-RU" sz="2400" dirty="0" err="1"/>
              <a:t>fruits</a:t>
            </a:r>
            <a:r>
              <a:rPr lang="ru-RU" sz="2400" dirty="0"/>
              <a:t> и помещает его в переменную </a:t>
            </a:r>
            <a:r>
              <a:rPr lang="ru-RU" sz="2400" dirty="0" err="1"/>
              <a:t>fruit</a:t>
            </a:r>
            <a:r>
              <a:rPr lang="ru-RU" sz="2400" dirty="0"/>
              <a:t>, затем выполняет код внутри цикла.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34</a:t>
            </a:fld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20" y="2138078"/>
            <a:ext cx="11365481" cy="324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27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76" y="350260"/>
            <a:ext cx="11214845" cy="734472"/>
          </a:xfrm>
        </p:spPr>
        <p:txBody>
          <a:bodyPr>
            <a:normAutofit/>
          </a:bodyPr>
          <a:lstStyle/>
          <a:p>
            <a:pPr marL="45720"/>
            <a:r>
              <a:rPr lang="ru-RU" dirty="0"/>
              <a:t>Цикл </a:t>
            </a:r>
            <a:r>
              <a:rPr lang="en-US" dirty="0"/>
              <a:t>for </a:t>
            </a:r>
            <a:r>
              <a:rPr lang="ru-RU" dirty="0"/>
              <a:t>с индексами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995083"/>
            <a:ext cx="11214847" cy="544059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Иногда нужно знать не только значение, но и индекс</a:t>
            </a:r>
            <a:r>
              <a:rPr lang="ru-RU" sz="2400" dirty="0" smtClean="0"/>
              <a:t>.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 smtClean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len</a:t>
            </a:r>
            <a:r>
              <a:rPr lang="ru-RU" sz="2400" b="1" dirty="0">
                <a:solidFill>
                  <a:srgbClr val="FF0000"/>
                </a:solidFill>
              </a:rPr>
              <a:t>(</a:t>
            </a:r>
            <a:r>
              <a:rPr lang="ru-RU" sz="2400" b="1" dirty="0" err="1">
                <a:solidFill>
                  <a:srgbClr val="FF0000"/>
                </a:solidFill>
              </a:rPr>
              <a:t>fruits</a:t>
            </a:r>
            <a:r>
              <a:rPr lang="ru-RU" sz="2400" b="1" dirty="0">
                <a:solidFill>
                  <a:srgbClr val="FF0000"/>
                </a:solidFill>
              </a:rPr>
              <a:t>) </a:t>
            </a:r>
            <a:r>
              <a:rPr lang="ru-RU" sz="2400" dirty="0"/>
              <a:t>— длина списка (кол-во элементов</a:t>
            </a:r>
            <a:r>
              <a:rPr lang="ru-RU" sz="2400" dirty="0" smtClean="0"/>
              <a:t>)</a:t>
            </a:r>
            <a:endParaRPr lang="ru-RU" sz="2400" dirty="0"/>
          </a:p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range</a:t>
            </a:r>
            <a:r>
              <a:rPr lang="ru-RU" sz="2400" b="1" dirty="0">
                <a:solidFill>
                  <a:srgbClr val="FF0000"/>
                </a:solidFill>
              </a:rPr>
              <a:t>(</a:t>
            </a:r>
            <a:r>
              <a:rPr lang="ru-RU" sz="2400" b="1" dirty="0" err="1">
                <a:solidFill>
                  <a:srgbClr val="FF0000"/>
                </a:solidFill>
              </a:rPr>
              <a:t>len</a:t>
            </a:r>
            <a:r>
              <a:rPr lang="ru-RU" sz="2400" b="1" dirty="0">
                <a:solidFill>
                  <a:srgbClr val="FF0000"/>
                </a:solidFill>
              </a:rPr>
              <a:t>(</a:t>
            </a:r>
            <a:r>
              <a:rPr lang="ru-RU" sz="2400" b="1" dirty="0" err="1">
                <a:solidFill>
                  <a:srgbClr val="FF0000"/>
                </a:solidFill>
              </a:rPr>
              <a:t>fruits</a:t>
            </a:r>
            <a:r>
              <a:rPr lang="ru-RU" sz="2400" b="1" dirty="0">
                <a:solidFill>
                  <a:srgbClr val="FF0000"/>
                </a:solidFill>
              </a:rPr>
              <a:t>)) </a:t>
            </a:r>
            <a:r>
              <a:rPr lang="ru-RU" sz="2400" dirty="0"/>
              <a:t>— генератор чисел от 0 до длины минус </a:t>
            </a:r>
            <a:r>
              <a:rPr lang="ru-RU" sz="2400" dirty="0" smtClean="0"/>
              <a:t>1</a:t>
            </a: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Мы используем i как индекс для доступа к элементу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35</a:t>
            </a:fld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08" y="1467062"/>
            <a:ext cx="11660582" cy="151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95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682" y="861879"/>
            <a:ext cx="8390965" cy="734472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596351"/>
            <a:ext cx="11214847" cy="484030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36</a:t>
            </a:fld>
            <a:endParaRPr lang="ru-RU" sz="2000" dirty="0"/>
          </a:p>
        </p:txBody>
      </p:sp>
      <p:pic>
        <p:nvPicPr>
          <p:cNvPr id="7170" name="Picture 2" descr="Изображение пина-истории">
            <a:extLst>
              <a:ext uri="{FF2B5EF4-FFF2-40B4-BE49-F238E27FC236}">
                <a16:creationId xmlns:a16="http://schemas.microsoft.com/office/drawing/2014/main" id="{5285A1E7-0011-438F-9B89-C9EE21610D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92"/>
          <a:stretch/>
        </p:blipFill>
        <p:spPr bwMode="auto">
          <a:xfrm>
            <a:off x="3469341" y="2008093"/>
            <a:ext cx="4446494" cy="333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348745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1599</TotalTime>
  <Words>1240</Words>
  <Application>Microsoft Office PowerPoint</Application>
  <PresentationFormat>Широкоэкранный</PresentationFormat>
  <Paragraphs>280</Paragraphs>
  <Slides>36</Slides>
  <Notes>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1" baseType="lpstr">
      <vt:lpstr>Arial</vt:lpstr>
      <vt:lpstr>Calibri</vt:lpstr>
      <vt:lpstr>Corbel</vt:lpstr>
      <vt:lpstr>Inter</vt:lpstr>
      <vt:lpstr>Базис</vt:lpstr>
      <vt:lpstr>  Работа с библиотеками в Python.</vt:lpstr>
      <vt:lpstr>Что такое библиотеки в Python?</vt:lpstr>
      <vt:lpstr>Библиотека math</vt:lpstr>
      <vt:lpstr>Библиотека random</vt:lpstr>
      <vt:lpstr>Способы импорта библиотек в Python</vt:lpstr>
      <vt:lpstr>Способы импорта библиотек в Python</vt:lpstr>
      <vt:lpstr>Способы импорта библиотек в Python</vt:lpstr>
      <vt:lpstr>Способы импорта библиотек в Python</vt:lpstr>
      <vt:lpstr>Способы импорта библиотек в Python</vt:lpstr>
      <vt:lpstr>Библиотека Turtle</vt:lpstr>
      <vt:lpstr>Настройка черепашки</vt:lpstr>
      <vt:lpstr>Настройка черепашки</vt:lpstr>
      <vt:lpstr> </vt:lpstr>
      <vt:lpstr>Настройка черепашки</vt:lpstr>
      <vt:lpstr>Двигаем черепашку и рисуем</vt:lpstr>
      <vt:lpstr>Использование циклов для удобства</vt:lpstr>
      <vt:lpstr>Использование переменных для удобства</vt:lpstr>
      <vt:lpstr>Рисуем окружности circle()</vt:lpstr>
      <vt:lpstr>Перемещение без рисования</vt:lpstr>
      <vt:lpstr>Немного практики</vt:lpstr>
      <vt:lpstr>Немного практики</vt:lpstr>
      <vt:lpstr>  Списки в Python — работа с коллекциями данных</vt:lpstr>
      <vt:lpstr>Что такое списки?</vt:lpstr>
      <vt:lpstr>Где применяются списки?</vt:lpstr>
      <vt:lpstr>Как устроен список?</vt:lpstr>
      <vt:lpstr>Что такое индекс?</vt:lpstr>
      <vt:lpstr>Синтаксис работы с индексами</vt:lpstr>
      <vt:lpstr>Что можно делать со списками? append() </vt:lpstr>
      <vt:lpstr>Что можно делать со списками? insert() </vt:lpstr>
      <vt:lpstr>Что можно делать со списками? remove() </vt:lpstr>
      <vt:lpstr>Что можно делать со списками? pop() </vt:lpstr>
      <vt:lpstr>Что можно делать со списками? len() </vt:lpstr>
      <vt:lpstr>Что можно делать со списками?  </vt:lpstr>
      <vt:lpstr>Цикл for — перебор элементов списка</vt:lpstr>
      <vt:lpstr>Цикл for с индексами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Home</dc:creator>
  <cp:lastModifiedBy>PC</cp:lastModifiedBy>
  <cp:revision>106</cp:revision>
  <dcterms:created xsi:type="dcterms:W3CDTF">2026-01-16T14:49:53Z</dcterms:created>
  <dcterms:modified xsi:type="dcterms:W3CDTF">2026-02-07T09:44:33Z</dcterms:modified>
</cp:coreProperties>
</file>