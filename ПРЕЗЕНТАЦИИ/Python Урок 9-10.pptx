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0" r:id="rId1"/>
  </p:sldMasterIdLst>
  <p:notesMasterIdLst>
    <p:notesMasterId r:id="rId29"/>
  </p:notesMasterIdLst>
  <p:sldIdLst>
    <p:sldId id="256" r:id="rId2"/>
    <p:sldId id="333" r:id="rId3"/>
    <p:sldId id="351" r:id="rId4"/>
    <p:sldId id="334" r:id="rId5"/>
    <p:sldId id="353" r:id="rId6"/>
    <p:sldId id="354" r:id="rId7"/>
    <p:sldId id="352" r:id="rId8"/>
    <p:sldId id="355" r:id="rId9"/>
    <p:sldId id="356" r:id="rId10"/>
    <p:sldId id="357" r:id="rId11"/>
    <p:sldId id="359" r:id="rId12"/>
    <p:sldId id="358" r:id="rId13"/>
    <p:sldId id="360" r:id="rId14"/>
    <p:sldId id="361" r:id="rId15"/>
    <p:sldId id="362" r:id="rId16"/>
    <p:sldId id="363" r:id="rId17"/>
    <p:sldId id="364" r:id="rId18"/>
    <p:sldId id="365" r:id="rId19"/>
    <p:sldId id="367" r:id="rId20"/>
    <p:sldId id="366" r:id="rId21"/>
    <p:sldId id="368" r:id="rId22"/>
    <p:sldId id="371" r:id="rId23"/>
    <p:sldId id="370" r:id="rId24"/>
    <p:sldId id="369" r:id="rId25"/>
    <p:sldId id="373" r:id="rId26"/>
    <p:sldId id="372" r:id="rId27"/>
    <p:sldId id="28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Эля Ахметова" initials="ЭА" lastIdx="1" clrIdx="0">
    <p:extLst>
      <p:ext uri="{19B8F6BF-5375-455C-9EA6-DF929625EA0E}">
        <p15:presenceInfo xmlns:p15="http://schemas.microsoft.com/office/powerpoint/2012/main" userId="12f8543c4a5474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6" autoAdjust="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7CE2D-A7B0-475A-A5D6-970EC3A786A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A89F7-B92F-48E2-B420-2B1BE318E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58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3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5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509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136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02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218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101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762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738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36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453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32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941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198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245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256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14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85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432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726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0476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750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365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320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30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D79CDC-7481-4905-B89D-BAC893F0865C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44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514D-1245-4E5C-B6D4-9B8552181E0F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8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3C28-9F1E-4CB0-99B8-90A1A1A459F1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1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FFE7D-C938-4E28-99F3-06FA598F2CE2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63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AD02-81FD-476A-A934-39D412F6A534}" type="datetime1">
              <a:rPr lang="ru-RU" smtClean="0"/>
              <a:t>14.02.2026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88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77FD-3CDF-47B5-AF1A-B57779CA5927}" type="datetime1">
              <a:rPr lang="ru-RU" smtClean="0"/>
              <a:t>14.02.2026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9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15798-E941-4EE2-8787-B5189EEAAF58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6713-29C0-4399-A3E4-EA7F0F9B78B1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7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EFFD-468F-42E7-B3C0-333211D20C9A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83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9F8-DBFD-4AFF-AAE6-818567FEF22B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0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2395-D087-4CA9-A95A-0C6F05552BB6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39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035F01D-5557-4729-89DC-FC9FCEFE2C80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0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 Ошибки и отладка в Python.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4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Ошибки — это нормально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Когда мы только начинаем программировать, ошибки могут пугать. Красные сообщения, непонятные слова, программа «ломается». Но на самом деле ошибки — это абсолютно нормальная часть программирования.</a:t>
            </a:r>
          </a:p>
          <a:p>
            <a:pPr marL="45720" indent="0">
              <a:buNone/>
            </a:pPr>
            <a:r>
              <a:rPr lang="ru-RU" sz="2400" dirty="0"/>
              <a:t>Все программисты — даже самые опытные — делают ошибки. Важно не бояться их, а научиться понимать, находить и исправлять. Это называется </a:t>
            </a:r>
            <a:r>
              <a:rPr lang="ru-RU" sz="2400" b="1" dirty="0">
                <a:solidFill>
                  <a:srgbClr val="FF0000"/>
                </a:solidFill>
              </a:rPr>
              <a:t>отладкой</a:t>
            </a:r>
            <a:r>
              <a:rPr lang="ru-RU" sz="2400" dirty="0"/>
              <a:t> (</a:t>
            </a:r>
            <a:r>
              <a:rPr lang="ru-RU" sz="2400" dirty="0" err="1"/>
              <a:t>debugging</a:t>
            </a:r>
            <a:r>
              <a:rPr lang="ru-RU" sz="2400" dirty="0"/>
              <a:t>).</a:t>
            </a:r>
          </a:p>
          <a:p>
            <a:pPr marL="45720" indent="0">
              <a:buNone/>
            </a:pPr>
            <a:r>
              <a:rPr lang="ru-RU" sz="2400" dirty="0"/>
              <a:t>Ошибки — это наш друг. Они подсказывают, где и что пошло не так. Главное — научиться их читать.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55428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 Ошибки и отладка в Python.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48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1. Синтаксическая ошибка (</a:t>
            </a:r>
            <a:r>
              <a:rPr lang="en-US" sz="4400" dirty="0" err="1">
                <a:solidFill>
                  <a:srgbClr val="FF0000"/>
                </a:solidFill>
              </a:rPr>
              <a:t>SyntaxError</a:t>
            </a:r>
            <a:r>
              <a:rPr lang="en-US" sz="4400" dirty="0"/>
              <a:t>)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Это ошибка в написании кода. Python не может понять, что вы хотели сказать.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	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4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83D5EA-2884-479A-9F2A-679F94003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5" t="8705" b="22449"/>
          <a:stretch/>
        </p:blipFill>
        <p:spPr>
          <a:xfrm>
            <a:off x="624690" y="1386963"/>
            <a:ext cx="6427959" cy="81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1. Синтаксическая ошибка (</a:t>
            </a:r>
            <a:r>
              <a:rPr lang="en-US" sz="4400" dirty="0" err="1">
                <a:solidFill>
                  <a:srgbClr val="FF0000"/>
                </a:solidFill>
              </a:rPr>
              <a:t>SyntaxError</a:t>
            </a:r>
            <a:r>
              <a:rPr lang="en-US" sz="4400" dirty="0"/>
              <a:t>)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Это ошибка в написании кода. Python не может понять, что вы хотели сказать.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Ошибка: закрывающая скобка отсутствует. Python напишет:	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	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5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83D5EA-2884-479A-9F2A-679F94003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5" t="8705" b="22449"/>
          <a:stretch/>
        </p:blipFill>
        <p:spPr>
          <a:xfrm>
            <a:off x="624690" y="1386963"/>
            <a:ext cx="6427959" cy="8130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1EBBCDB-E285-4AA1-99DA-4638A6CFA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90" y="2661562"/>
            <a:ext cx="10582170" cy="242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30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1. Синтаксическая ошибка (</a:t>
            </a:r>
            <a:r>
              <a:rPr lang="en-US" sz="4400" dirty="0" err="1">
                <a:solidFill>
                  <a:srgbClr val="FF0000"/>
                </a:solidFill>
              </a:rPr>
              <a:t>SyntaxError</a:t>
            </a:r>
            <a:r>
              <a:rPr lang="en-US" sz="4400" dirty="0"/>
              <a:t>)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Пример другой ошибки: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6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E0EFB5-69DD-46F7-B79B-1A85D3630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4" y="1383020"/>
            <a:ext cx="5353787" cy="119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1. Синтаксическая ошибка (</a:t>
            </a:r>
            <a:r>
              <a:rPr lang="en-US" sz="4400" dirty="0" err="1">
                <a:solidFill>
                  <a:srgbClr val="FF0000"/>
                </a:solidFill>
              </a:rPr>
              <a:t>SyntaxError</a:t>
            </a:r>
            <a:r>
              <a:rPr lang="en-US" sz="4400" dirty="0"/>
              <a:t>)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Пример другой ошибки: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Ошибка: пропущен двоеточие : после условия. Python скажет:	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	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7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E0EFB5-69DD-46F7-B79B-1A85D3630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4" y="1383020"/>
            <a:ext cx="5353787" cy="119205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C30209-3C5F-4672-9C28-5880EF4FB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4" y="3054662"/>
            <a:ext cx="10795179" cy="245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1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2. Ошибка выполнения (</a:t>
            </a:r>
            <a:r>
              <a:rPr lang="en-US" sz="4400" dirty="0" err="1">
                <a:solidFill>
                  <a:srgbClr val="FF0000"/>
                </a:solidFill>
              </a:rPr>
              <a:t>RuntimeError</a:t>
            </a:r>
            <a:r>
              <a:rPr lang="en-US" sz="4400" dirty="0">
                <a:solidFill>
                  <a:srgbClr val="0F6FC6"/>
                </a:solidFill>
              </a:rPr>
              <a:t>)</a:t>
            </a:r>
            <a:endParaRPr lang="ru-RU" sz="4400" dirty="0">
              <a:solidFill>
                <a:srgbClr val="0F6FC6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Код написан правильно, но при запуске что-то идёт не так.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8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F60009-D20A-423B-B6EC-0DDAB84A18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10" b="8824"/>
          <a:stretch/>
        </p:blipFill>
        <p:spPr>
          <a:xfrm>
            <a:off x="642202" y="1430448"/>
            <a:ext cx="3887164" cy="73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2. Ошибка выполнения (</a:t>
            </a:r>
            <a:r>
              <a:rPr lang="en-US" sz="4400" dirty="0" err="1">
                <a:solidFill>
                  <a:srgbClr val="FF0000"/>
                </a:solidFill>
              </a:rPr>
              <a:t>RuntimeError</a:t>
            </a:r>
            <a:r>
              <a:rPr lang="en-US" sz="4400" dirty="0">
                <a:solidFill>
                  <a:srgbClr val="0F6FC6"/>
                </a:solidFill>
              </a:rPr>
              <a:t>)</a:t>
            </a:r>
            <a:endParaRPr lang="ru-RU" sz="4400" dirty="0">
              <a:solidFill>
                <a:srgbClr val="0F6FC6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Код написан правильно, но при запуске что-то идёт не так.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Ошибка: деление на ноль. Python сообщает: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9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F60009-D20A-423B-B6EC-0DDAB84A18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10" b="8824"/>
          <a:stretch/>
        </p:blipFill>
        <p:spPr>
          <a:xfrm>
            <a:off x="642202" y="1430448"/>
            <a:ext cx="3887164" cy="73447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E31A807-BC44-476C-AF75-D71BF9E1A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02" y="2657956"/>
            <a:ext cx="11074009" cy="203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6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3. Ошибка логики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Самая сложная: программа работает, </a:t>
            </a:r>
            <a:r>
              <a:rPr lang="ru-RU" sz="2400" b="1" dirty="0"/>
              <a:t>но делает не то</a:t>
            </a:r>
            <a:r>
              <a:rPr lang="ru-RU" sz="2400" dirty="0"/>
              <a:t>, что вы хотели.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Ошибок нет, программа запускается — но результат неправильный.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10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78BCD1-51C7-453A-86D6-77979C299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89" y="1444710"/>
            <a:ext cx="11014568" cy="111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54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Как Python сообщает об ошибках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Вывод ошибок из примеров выше — это </a:t>
            </a:r>
            <a:r>
              <a:rPr lang="ru-RU" sz="2400" b="1" dirty="0" err="1"/>
              <a:t>Traceback</a:t>
            </a:r>
            <a:r>
              <a:rPr lang="ru-RU" sz="2400" dirty="0"/>
              <a:t>.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b="1" dirty="0" err="1"/>
              <a:t>Traceback</a:t>
            </a:r>
            <a:r>
              <a:rPr lang="ru-RU" sz="2400" dirty="0"/>
              <a:t> — это цепочка, показывающая:</a:t>
            </a:r>
          </a:p>
          <a:p>
            <a:pPr>
              <a:spcBef>
                <a:spcPts val="600"/>
              </a:spcBef>
            </a:pPr>
            <a:r>
              <a:rPr lang="ru-RU" sz="2400" dirty="0"/>
              <a:t>где именно произошла ошибка;</a:t>
            </a:r>
          </a:p>
          <a:p>
            <a:pPr>
              <a:spcBef>
                <a:spcPts val="600"/>
              </a:spcBef>
            </a:pPr>
            <a:r>
              <a:rPr lang="ru-RU" sz="2400" dirty="0"/>
              <a:t>какие функции и строки кода были вызваны перед этим;</a:t>
            </a:r>
          </a:p>
          <a:p>
            <a:pPr>
              <a:spcBef>
                <a:spcPts val="600"/>
              </a:spcBef>
            </a:pPr>
            <a:r>
              <a:rPr lang="ru-RU" sz="2400" dirty="0" err="1"/>
              <a:t>типошибки</a:t>
            </a:r>
            <a:r>
              <a:rPr lang="ru-RU" sz="2400" dirty="0"/>
              <a:t> (например, </a:t>
            </a:r>
            <a:r>
              <a:rPr lang="ru-RU" sz="2400" dirty="0" err="1"/>
              <a:t>ZeroDivisionError</a:t>
            </a:r>
            <a:r>
              <a:rPr lang="ru-RU" sz="2400" dirty="0"/>
              <a:t>, </a:t>
            </a:r>
            <a:r>
              <a:rPr lang="ru-RU" sz="2400" dirty="0" err="1"/>
              <a:t>IndexError</a:t>
            </a:r>
            <a:r>
              <a:rPr lang="ru-RU" sz="2400" dirty="0"/>
              <a:t>, </a:t>
            </a:r>
            <a:r>
              <a:rPr lang="ru-RU" sz="2400" dirty="0" err="1"/>
              <a:t>SyntaxError</a:t>
            </a:r>
            <a:r>
              <a:rPr lang="ru-RU" sz="2400" dirty="0"/>
              <a:t> и т. д.);</a:t>
            </a:r>
          </a:p>
          <a:p>
            <a:pPr>
              <a:spcBef>
                <a:spcPts val="600"/>
              </a:spcBef>
            </a:pPr>
            <a:r>
              <a:rPr lang="ru-RU" sz="2400" dirty="0"/>
              <a:t>короткое описание ошибки (например, </a:t>
            </a:r>
            <a:r>
              <a:rPr lang="ru-RU" sz="2400" dirty="0" err="1"/>
              <a:t>division</a:t>
            </a:r>
            <a:r>
              <a:rPr lang="ru-RU" sz="2400" dirty="0"/>
              <a:t> </a:t>
            </a:r>
            <a:r>
              <a:rPr lang="ru-RU" sz="2400" dirty="0" err="1"/>
              <a:t>by</a:t>
            </a:r>
            <a:r>
              <a:rPr lang="ru-RU" sz="2400" dirty="0"/>
              <a:t> </a:t>
            </a:r>
            <a:r>
              <a:rPr lang="ru-RU" sz="2400" dirty="0" err="1"/>
              <a:t>zero</a:t>
            </a:r>
            <a:r>
              <a:rPr lang="ru-RU" sz="2400" dirty="0"/>
              <a:t> — деление на ноль).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11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8187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Как Python сообщает об ошибках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Пример: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Ошибка: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12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047751-1FB5-4ABB-96CF-B35D6FB38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15" y="1379951"/>
            <a:ext cx="5732576" cy="150409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73A2352-1A16-4DFD-8120-A717989B6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40" y="3429000"/>
            <a:ext cx="10656143" cy="187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8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Как Python сообщает об ошибках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2400" b="1" dirty="0" err="1"/>
              <a:t>Traceback</a:t>
            </a:r>
            <a:r>
              <a:rPr lang="ru-RU" sz="2400" dirty="0"/>
              <a:t> — один из вариантов вывода ошибок после запуска программы, однако Многие современные редакторы кода, такие как:</a:t>
            </a:r>
          </a:p>
          <a:p>
            <a:pPr>
              <a:spcBef>
                <a:spcPts val="1200"/>
              </a:spcBef>
            </a:pPr>
            <a:r>
              <a:rPr lang="ru-RU" sz="2400" dirty="0" err="1"/>
              <a:t>PyCharm</a:t>
            </a:r>
            <a:endParaRPr lang="ru-RU" sz="2400" dirty="0"/>
          </a:p>
          <a:p>
            <a:pPr>
              <a:spcBef>
                <a:spcPts val="1200"/>
              </a:spcBef>
            </a:pPr>
            <a:r>
              <a:rPr lang="ru-RU" sz="2400" dirty="0" err="1"/>
              <a:t>Thonny</a:t>
            </a:r>
            <a:r>
              <a:rPr lang="ru-RU" sz="2400" dirty="0"/>
              <a:t> (для начинающих)</a:t>
            </a:r>
          </a:p>
          <a:p>
            <a:pPr>
              <a:spcBef>
                <a:spcPts val="1200"/>
              </a:spcBef>
            </a:pPr>
            <a:r>
              <a:rPr lang="ru-RU" sz="2400" dirty="0" err="1"/>
              <a:t>Replit</a:t>
            </a:r>
            <a:endParaRPr lang="ru-RU" sz="2400" dirty="0"/>
          </a:p>
          <a:p>
            <a:pPr>
              <a:spcBef>
                <a:spcPts val="1200"/>
              </a:spcBef>
            </a:pPr>
            <a:r>
              <a:rPr lang="ru-RU" sz="2400" dirty="0" err="1"/>
              <a:t>Jupyter</a:t>
            </a:r>
            <a:r>
              <a:rPr lang="ru-RU" sz="2400" dirty="0"/>
              <a:t> </a:t>
            </a:r>
            <a:r>
              <a:rPr lang="ru-RU" sz="2400" dirty="0" err="1"/>
              <a:t>Notebook</a:t>
            </a:r>
            <a:endParaRPr lang="ru-RU" sz="2400" dirty="0"/>
          </a:p>
          <a:p>
            <a:pPr>
              <a:spcBef>
                <a:spcPts val="1200"/>
              </a:spcBef>
            </a:pPr>
            <a:r>
              <a:rPr lang="ru-RU" sz="2400" b="1" dirty="0"/>
              <a:t>VS Code</a:t>
            </a:r>
          </a:p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умеют показывать ошибки ещё до запуска программы. Это называется </a:t>
            </a:r>
            <a:r>
              <a:rPr lang="ru-RU" sz="2400" b="1" dirty="0"/>
              <a:t>статический анализ кода</a:t>
            </a:r>
            <a:r>
              <a:rPr lang="ru-RU" sz="2400" dirty="0"/>
              <a:t>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13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27306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Как Python сообщает об ошибках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Подчёркивание переменных, которых не существует</a:t>
            </a:r>
            <a:endParaRPr lang="en-US" sz="2400" dirty="0"/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endParaRPr lang="en-US" sz="2400" dirty="0"/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В редакторе «</a:t>
            </a:r>
            <a:r>
              <a:rPr lang="ru-RU" sz="2400" dirty="0" err="1"/>
              <a:t>nmae</a:t>
            </a:r>
            <a:r>
              <a:rPr lang="ru-RU" sz="2400" dirty="0"/>
              <a:t>» будет подчёркнуто красной волнистой линией: переменная не определена.</a:t>
            </a:r>
          </a:p>
          <a:p>
            <a:pPr marL="45720" indent="0">
              <a:spcBef>
                <a:spcPts val="12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14</a:t>
            </a:fld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890F07-E5D8-4B47-B23A-38CFFEAA3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02" y="1403629"/>
            <a:ext cx="10307981" cy="202537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5EBF25C-EA9D-4F8B-8AF3-48D7DA19C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02" y="4162975"/>
            <a:ext cx="10691574" cy="211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2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Как Python сообщает об ошибках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en-US" sz="2400" dirty="0"/>
              <a:t>2. </a:t>
            </a:r>
            <a:r>
              <a:rPr lang="ru-RU" sz="2400" dirty="0"/>
              <a:t>Подсказка, что забыли : в </a:t>
            </a:r>
            <a:r>
              <a:rPr lang="ru-RU" sz="2400" dirty="0" err="1"/>
              <a:t>if</a:t>
            </a: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Редактор скажет: «</a:t>
            </a:r>
            <a:r>
              <a:rPr lang="ru-RU" sz="2400" dirty="0" err="1"/>
              <a:t>SyntaxError</a:t>
            </a:r>
            <a:r>
              <a:rPr lang="ru-RU" sz="2400" dirty="0"/>
              <a:t> — ожидается ‘:'», и сам подсветит строку.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15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DBEE7A-EA3B-42BB-AD11-33B7CAD72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74" y="1480786"/>
            <a:ext cx="11238931" cy="17513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998B28-C886-48EC-901B-778BCC21A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74" y="3876910"/>
            <a:ext cx="8221355" cy="255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6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>
                <a:solidFill>
                  <a:srgbClr val="0F6FC6"/>
                </a:solidFill>
              </a:rPr>
              <a:t>Как Python сообщает об ошибках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en-US" sz="2400" dirty="0"/>
              <a:t>3. </a:t>
            </a:r>
            <a:r>
              <a:rPr lang="ru-RU" sz="2400" dirty="0"/>
              <a:t>Несовместимые типы</a:t>
            </a: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Редактор скажет: «Нельзя сложить </a:t>
            </a:r>
            <a:r>
              <a:rPr lang="ru-RU" sz="2400" dirty="0" err="1"/>
              <a:t>str</a:t>
            </a:r>
            <a:r>
              <a:rPr lang="ru-RU" sz="2400" dirty="0"/>
              <a:t> и </a:t>
            </a:r>
            <a:r>
              <a:rPr lang="ru-RU" sz="2400" dirty="0" err="1"/>
              <a:t>int</a:t>
            </a:r>
            <a:r>
              <a:rPr lang="ru-RU" sz="2400" dirty="0"/>
              <a:t>».</a:t>
            </a: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16</a:t>
            </a:fld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B28EA4-4E63-4DEB-9F06-65E0CFBEC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0" y="2993683"/>
            <a:ext cx="11160842" cy="22120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EF0864-255D-4AC5-B032-76E6088CF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0" y="1461415"/>
            <a:ext cx="8554220" cy="60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31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Как это работает?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Редакторы анализируют код на предмет:</a:t>
            </a:r>
          </a:p>
          <a:p>
            <a:pPr>
              <a:spcBef>
                <a:spcPts val="1200"/>
              </a:spcBef>
            </a:pPr>
            <a:r>
              <a:rPr lang="ru-RU" sz="2400" dirty="0"/>
              <a:t>опечаток</a:t>
            </a:r>
          </a:p>
          <a:p>
            <a:pPr>
              <a:spcBef>
                <a:spcPts val="1200"/>
              </a:spcBef>
            </a:pPr>
            <a:r>
              <a:rPr lang="ru-RU" sz="2400" dirty="0"/>
              <a:t>пропущенных скобок</a:t>
            </a:r>
          </a:p>
          <a:p>
            <a:pPr>
              <a:spcBef>
                <a:spcPts val="1200"/>
              </a:spcBef>
            </a:pPr>
            <a:r>
              <a:rPr lang="ru-RU" sz="2400" dirty="0"/>
              <a:t>неправильного отступа</a:t>
            </a:r>
          </a:p>
          <a:p>
            <a:pPr>
              <a:spcBef>
                <a:spcPts val="1200"/>
              </a:spcBef>
            </a:pPr>
            <a:r>
              <a:rPr lang="ru-RU" sz="2400" dirty="0"/>
              <a:t>конфликтов типов</a:t>
            </a:r>
          </a:p>
          <a:p>
            <a:pPr>
              <a:spcBef>
                <a:spcPts val="1200"/>
              </a:spcBef>
            </a:pPr>
            <a:r>
              <a:rPr lang="ru-RU" sz="2400" dirty="0"/>
              <a:t>использования несуществующих переменных</a:t>
            </a:r>
          </a:p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Они делают это ещё до запуска, помогая избежать ошибок заранее.</a:t>
            </a: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17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46441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Как читать ошибки: пошагово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49" y="5260062"/>
            <a:ext cx="11214847" cy="1247677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000" b="1" i="0" dirty="0">
                <a:solidFill>
                  <a:srgbClr val="0F6FC6"/>
                </a:solidFill>
                <a:effectLst/>
              </a:rPr>
              <a:t>Вывод:</a:t>
            </a:r>
            <a:r>
              <a:rPr lang="ru-RU" sz="2000" b="0" i="0" dirty="0">
                <a:solidFill>
                  <a:srgbClr val="0F6FC6"/>
                </a:solidFill>
                <a:effectLst/>
              </a:rPr>
              <a:t> внимательно читаем сообщение, смотрим, что за переменная или функция вызывает ошибку.</a:t>
            </a:r>
            <a:endParaRPr lang="ru-RU" sz="2400" dirty="0">
              <a:solidFill>
                <a:srgbClr val="0F6FC6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18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6A1551-4F1D-45DF-9EC3-8F09E7BDB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84" y="2624015"/>
            <a:ext cx="11237203" cy="24672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2E33A0-9537-488D-92AE-CF91D77F0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3" y="1084732"/>
            <a:ext cx="7030431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38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Общий вид конструкции </a:t>
            </a:r>
            <a:r>
              <a:rPr lang="en-US" sz="4400" b="1" dirty="0">
                <a:solidFill>
                  <a:srgbClr val="FF0000"/>
                </a:solidFill>
              </a:rPr>
              <a:t>try-except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19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577363-F71E-4659-A23D-AB30C15DF9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55"/>
          <a:stretch/>
        </p:blipFill>
        <p:spPr>
          <a:xfrm>
            <a:off x="519950" y="983674"/>
            <a:ext cx="5364801" cy="546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64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Использование конструкции </a:t>
            </a:r>
            <a:r>
              <a:rPr lang="en-US" sz="4400" b="1" dirty="0">
                <a:solidFill>
                  <a:srgbClr val="FF0000"/>
                </a:solidFill>
              </a:rPr>
              <a:t>try-except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Иногда вы ожидаете, что ошибка может возникнуть, и хотите обработать её красиво. Для этого используется конструкция </a:t>
            </a:r>
            <a:r>
              <a:rPr lang="ru-RU" sz="2400" b="1" dirty="0" err="1">
                <a:solidFill>
                  <a:srgbClr val="FF0000"/>
                </a:solidFill>
              </a:rPr>
              <a:t>try-except</a:t>
            </a:r>
            <a:r>
              <a:rPr lang="ru-RU" sz="2400" dirty="0"/>
              <a:t>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20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EC37FD-E48D-4CEA-92B2-4E8F16609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3" y="1842954"/>
            <a:ext cx="7758909" cy="3586264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8D9FF8D9-CE1D-4196-8FAA-8829A2182544}"/>
              </a:ext>
            </a:extLst>
          </p:cNvPr>
          <p:cNvSpPr txBox="1">
            <a:spLocks/>
          </p:cNvSpPr>
          <p:nvPr/>
        </p:nvSpPr>
        <p:spPr>
          <a:xfrm>
            <a:off x="8365402" y="1729555"/>
            <a:ext cx="3490421" cy="4858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sz="2400" dirty="0" err="1">
                <a:solidFill>
                  <a:srgbClr val="FF0000"/>
                </a:solidFill>
              </a:rPr>
              <a:t>try</a:t>
            </a:r>
            <a:r>
              <a:rPr lang="ru-RU" sz="2400" dirty="0"/>
              <a:t>: в этом блоке мы пишем код, который может вызвать ошибку.</a:t>
            </a:r>
          </a:p>
          <a:p>
            <a:pPr>
              <a:spcBef>
                <a:spcPts val="1200"/>
              </a:spcBef>
            </a:pPr>
            <a:r>
              <a:rPr lang="ru-RU" sz="2400" b="1" dirty="0" err="1">
                <a:solidFill>
                  <a:srgbClr val="FF0000"/>
                </a:solidFill>
              </a:rPr>
              <a:t>except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 err="1">
                <a:solidFill>
                  <a:srgbClr val="FF0000"/>
                </a:solidFill>
              </a:rPr>
              <a:t>ValueError</a:t>
            </a:r>
            <a:r>
              <a:rPr lang="ru-RU" sz="2400" dirty="0"/>
              <a:t>: этот блок сработает, если произойдёт </a:t>
            </a:r>
            <a:r>
              <a:rPr lang="ru-RU" sz="2400" b="1" u="sng" dirty="0"/>
              <a:t>ошибка преобразования </a:t>
            </a:r>
            <a:r>
              <a:rPr lang="ru-RU" sz="2400" dirty="0"/>
              <a:t>строки в число.</a:t>
            </a:r>
          </a:p>
          <a:p>
            <a:pPr>
              <a:spcBef>
                <a:spcPts val="1200"/>
              </a:spcBef>
            </a:pPr>
            <a:r>
              <a:rPr lang="ru-RU" sz="2400" b="1" dirty="0" err="1">
                <a:solidFill>
                  <a:srgbClr val="FF0000"/>
                </a:solidFill>
              </a:rPr>
              <a:t>except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 err="1">
                <a:solidFill>
                  <a:srgbClr val="FF0000"/>
                </a:solidFill>
              </a:rPr>
              <a:t>ZeroDivisionError</a:t>
            </a:r>
            <a:r>
              <a:rPr lang="ru-RU" sz="2400" dirty="0"/>
              <a:t>: сработает, если </a:t>
            </a:r>
            <a:r>
              <a:rPr lang="ru-RU" sz="2400" b="1" u="sng" dirty="0">
                <a:solidFill>
                  <a:srgbClr val="0F6FC6"/>
                </a:solidFill>
              </a:rPr>
              <a:t>пользователь введёт 0</a:t>
            </a:r>
            <a:r>
              <a:rPr lang="ru-RU" sz="2400" dirty="0"/>
              <a:t>.</a:t>
            </a:r>
          </a:p>
          <a:p>
            <a:pPr marL="45720" indent="0">
              <a:spcBef>
                <a:spcPts val="600"/>
              </a:spcBef>
              <a:buFont typeface="Corbel" pitchFamily="34" charset="0"/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Font typeface="Corbel" pitchFamily="34" charset="0"/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Font typeface="Corbel" pitchFamily="34" charset="0"/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19232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Блок </a:t>
            </a:r>
            <a:r>
              <a:rPr lang="en-US" sz="4400" dirty="0"/>
              <a:t>else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Выполняется </a:t>
            </a:r>
            <a:r>
              <a:rPr lang="ru-RU" sz="2400" b="1" dirty="0"/>
              <a:t>только если не было ошибок</a:t>
            </a:r>
            <a:r>
              <a:rPr lang="ru-RU" sz="2400" dirty="0"/>
              <a:t>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21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0B7859-9F35-48C9-8E32-3961BD766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09" y="1500114"/>
            <a:ext cx="9650229" cy="457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62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Блок </a:t>
            </a:r>
            <a:r>
              <a:rPr lang="en-US" sz="4400" dirty="0"/>
              <a:t>finally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Выполняется в любом случае, </a:t>
            </a:r>
            <a:r>
              <a:rPr lang="ru-RU" sz="2400" b="1" dirty="0"/>
              <a:t>даже если была ошибка</a:t>
            </a:r>
            <a:r>
              <a:rPr lang="ru-RU" sz="2400" dirty="0"/>
              <a:t>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22</a:t>
            </a:fld>
            <a:endParaRPr lang="ru-RU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2A63A7-1995-4436-8C86-AC3328B24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98" y="1446773"/>
            <a:ext cx="8172138" cy="474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42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Советы по отладке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2400" b="1" dirty="0"/>
              <a:t>Отладка</a:t>
            </a:r>
            <a:r>
              <a:rPr lang="ru-RU" sz="2400" dirty="0"/>
              <a:t> — это процесс поиска и исправления ошибок.</a:t>
            </a:r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Читайте ошибку сверху вниз.</a:t>
            </a:r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Ищите строку кода, где ошибка.</a:t>
            </a:r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Проверяйте переменные: названы ли правильно?</a:t>
            </a:r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Ставьте </a:t>
            </a:r>
            <a:r>
              <a:rPr lang="ru-RU" sz="2400" dirty="0" err="1"/>
              <a:t>print</a:t>
            </a:r>
            <a:r>
              <a:rPr lang="ru-RU" sz="2400" dirty="0"/>
              <a:t>() — смотрите, что происходит.</a:t>
            </a:r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Делайте маленькие шаги.</a:t>
            </a:r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Комментируйте части кода временно, чтобы изолировать ошибку.</a:t>
            </a:r>
          </a:p>
          <a:p>
            <a:pPr marL="50292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обращайте внимание на подсветку строк от программы, она предостерегает от ошибок.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23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49115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Типичные ошибки и как их решать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IndexError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Решение: проверить длину списка с </a:t>
            </a:r>
            <a:r>
              <a:rPr lang="ru-RU" sz="2400" dirty="0" err="1"/>
              <a:t>len</a:t>
            </a:r>
            <a:r>
              <a:rPr lang="ru-RU" sz="2400" dirty="0"/>
              <a:t>(</a:t>
            </a:r>
            <a:r>
              <a:rPr lang="ru-RU" sz="2400" dirty="0" err="1"/>
              <a:t>numbers</a:t>
            </a:r>
            <a:r>
              <a:rPr lang="ru-RU" sz="2400" dirty="0"/>
              <a:t>).</a:t>
            </a:r>
            <a:endParaRPr lang="en-US" sz="2400" dirty="0"/>
          </a:p>
          <a:p>
            <a:pPr marL="45720" indent="0">
              <a:spcBef>
                <a:spcPts val="1200"/>
              </a:spcBef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45720" indent="0">
              <a:spcBef>
                <a:spcPts val="1200"/>
              </a:spcBef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ValueError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" indent="0">
              <a:spcBef>
                <a:spcPts val="1200"/>
              </a:spcBef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45720" indent="0">
              <a:spcBef>
                <a:spcPts val="1200"/>
              </a:spcBef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45720" indent="0">
              <a:spcBef>
                <a:spcPts val="1200"/>
              </a:spcBef>
              <a:buNone/>
            </a:pPr>
            <a:r>
              <a:rPr lang="ru-RU" sz="2400" dirty="0">
                <a:solidFill>
                  <a:srgbClr val="0F6FC6"/>
                </a:solidFill>
              </a:rPr>
              <a:t>Если ввести «привет», будет ошибка. Оберните в </a:t>
            </a:r>
            <a:r>
              <a:rPr lang="ru-RU" sz="2400" dirty="0" err="1">
                <a:solidFill>
                  <a:srgbClr val="0F6FC6"/>
                </a:solidFill>
              </a:rPr>
              <a:t>try-except</a:t>
            </a:r>
            <a:r>
              <a:rPr lang="ru-RU" sz="2400" dirty="0">
                <a:solidFill>
                  <a:srgbClr val="0F6FC6"/>
                </a:solidFill>
              </a:rPr>
              <a:t>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24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C9104A-AF39-435B-BF77-A00F6108B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04" y="1477107"/>
            <a:ext cx="11270671" cy="14290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E8F0A7-3CA5-4132-9054-C5B18A102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4" y="4366010"/>
            <a:ext cx="11050440" cy="93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85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Типичные ошибки и как их решать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TypeError</a:t>
            </a: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Нельзя складывать строку и число. Надо:</a:t>
            </a: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25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BA5D36-E701-422B-B987-E1A656BA3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03" y="1729555"/>
            <a:ext cx="6723231" cy="73447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7F2F4C-AA24-4BA9-AB3D-2A48A5F1A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3" y="3429000"/>
            <a:ext cx="9312243" cy="70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17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4400" dirty="0"/>
              <a:t> Программа с ошибками и отладка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1200"/>
              </a:spcBef>
              <a:buNone/>
            </a:pPr>
            <a:r>
              <a:rPr lang="ru-RU" sz="2400" dirty="0"/>
              <a:t>Тут код ошибками, давайте попробуем исправить их!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26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553A61-D5B9-489E-B79E-1D6D63631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08" y="1459611"/>
            <a:ext cx="8350069" cy="431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82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682" y="861879"/>
            <a:ext cx="8390965" cy="734472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596351"/>
            <a:ext cx="11214847" cy="484030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27</a:t>
            </a:fld>
            <a:endParaRPr lang="ru-RU" sz="2000" dirty="0"/>
          </a:p>
        </p:txBody>
      </p:sp>
      <p:pic>
        <p:nvPicPr>
          <p:cNvPr id="7170" name="Picture 2" descr="Изображение пина-истории">
            <a:extLst>
              <a:ext uri="{FF2B5EF4-FFF2-40B4-BE49-F238E27FC236}">
                <a16:creationId xmlns:a16="http://schemas.microsoft.com/office/drawing/2014/main" id="{5285A1E7-0011-438F-9B89-C9EE21610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92"/>
          <a:stretch/>
        </p:blipFill>
        <p:spPr bwMode="auto">
          <a:xfrm>
            <a:off x="3469341" y="2008093"/>
            <a:ext cx="4446494" cy="333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348745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1799</TotalTime>
  <Words>800</Words>
  <Application>Microsoft Office PowerPoint</Application>
  <PresentationFormat>Широкоэкранный</PresentationFormat>
  <Paragraphs>222</Paragraphs>
  <Slides>27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Calibri</vt:lpstr>
      <vt:lpstr>Corbel</vt:lpstr>
      <vt:lpstr>Inter</vt:lpstr>
      <vt:lpstr>Базис</vt:lpstr>
      <vt:lpstr>  Ошибки и отладка в Python.</vt:lpstr>
      <vt:lpstr>Ошибки — это нормально</vt:lpstr>
      <vt:lpstr>  Ошибки и отладка в Python.</vt:lpstr>
      <vt:lpstr>1. Синтаксическая ошибка (SyntaxError)</vt:lpstr>
      <vt:lpstr>1. Синтаксическая ошибка (SyntaxError)</vt:lpstr>
      <vt:lpstr>1. Синтаксическая ошибка (SyntaxError)</vt:lpstr>
      <vt:lpstr>1. Синтаксическая ошибка (SyntaxError)</vt:lpstr>
      <vt:lpstr>2. Ошибка выполнения (RuntimeError)</vt:lpstr>
      <vt:lpstr>2. Ошибка выполнения (RuntimeError)</vt:lpstr>
      <vt:lpstr>3. Ошибка логики</vt:lpstr>
      <vt:lpstr>Как Python сообщает об ошибках</vt:lpstr>
      <vt:lpstr>Как Python сообщает об ошибках</vt:lpstr>
      <vt:lpstr>Как Python сообщает об ошибках</vt:lpstr>
      <vt:lpstr>Как Python сообщает об ошибках</vt:lpstr>
      <vt:lpstr>Как Python сообщает об ошибках</vt:lpstr>
      <vt:lpstr>Как Python сообщает об ошибках</vt:lpstr>
      <vt:lpstr>Как это работает?</vt:lpstr>
      <vt:lpstr>Как читать ошибки: пошагово</vt:lpstr>
      <vt:lpstr>Общий вид конструкции try-except</vt:lpstr>
      <vt:lpstr>Использование конструкции try-except</vt:lpstr>
      <vt:lpstr>Блок else</vt:lpstr>
      <vt:lpstr>Блок finally</vt:lpstr>
      <vt:lpstr>Советы по отладке</vt:lpstr>
      <vt:lpstr>Типичные ошибки и как их решать</vt:lpstr>
      <vt:lpstr>Типичные ошибки и как их решать</vt:lpstr>
      <vt:lpstr> Программа с ошибками и отладка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Эля Ахметова</cp:lastModifiedBy>
  <cp:revision>101</cp:revision>
  <dcterms:created xsi:type="dcterms:W3CDTF">2026-01-16T14:49:53Z</dcterms:created>
  <dcterms:modified xsi:type="dcterms:W3CDTF">2026-02-14T10:22:17Z</dcterms:modified>
</cp:coreProperties>
</file>