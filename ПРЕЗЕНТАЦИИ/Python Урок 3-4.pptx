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90" r:id="rId1"/>
  </p:sldMasterIdLst>
  <p:notesMasterIdLst>
    <p:notesMasterId r:id="rId23"/>
  </p:notesMasterIdLst>
  <p:sldIdLst>
    <p:sldId id="256" r:id="rId2"/>
    <p:sldId id="265" r:id="rId3"/>
    <p:sldId id="291" r:id="rId4"/>
    <p:sldId id="292" r:id="rId5"/>
    <p:sldId id="293" r:id="rId6"/>
    <p:sldId id="294" r:id="rId7"/>
    <p:sldId id="295" r:id="rId8"/>
    <p:sldId id="300" r:id="rId9"/>
    <p:sldId id="301" r:id="rId10"/>
    <p:sldId id="299" r:id="rId11"/>
    <p:sldId id="302" r:id="rId12"/>
    <p:sldId id="303" r:id="rId13"/>
    <p:sldId id="304" r:id="rId14"/>
    <p:sldId id="305" r:id="rId15"/>
    <p:sldId id="298" r:id="rId16"/>
    <p:sldId id="297" r:id="rId17"/>
    <p:sldId id="306" r:id="rId18"/>
    <p:sldId id="307" r:id="rId19"/>
    <p:sldId id="308" r:id="rId20"/>
    <p:sldId id="309" r:id="rId21"/>
    <p:sldId id="28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Эля Ахметова" initials="ЭА" lastIdx="1" clrIdx="0">
    <p:extLst>
      <p:ext uri="{19B8F6BF-5375-455C-9EA6-DF929625EA0E}">
        <p15:presenceInfo xmlns:p15="http://schemas.microsoft.com/office/powerpoint/2012/main" userId="12f8543c4a5474f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6FC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A7CE2D-A7B0-475A-A5D6-970EC3A786A8}" type="datetimeFigureOut">
              <a:rPr lang="ru-RU" smtClean="0"/>
              <a:t>23.01.2026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0A89F7-B92F-48E2-B420-2B1BE318EE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1584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7269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50386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9985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912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4361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61915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38631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9223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19686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17295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956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54176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88529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84212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69248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14530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54596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14138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8306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4D79CDC-7481-4905-B89D-BAC893F0865C}" type="datetime1">
              <a:rPr lang="ru-RU" smtClean="0"/>
              <a:t>23.01.2026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4440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3514D-1245-4E5C-B6D4-9B8552181E0F}" type="datetime1">
              <a:rPr lang="ru-RU" smtClean="0"/>
              <a:t>23.01.2026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3851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3C28-9F1E-4CB0-99B8-90A1A1A459F1}" type="datetime1">
              <a:rPr lang="ru-RU" smtClean="0"/>
              <a:t>23.01.2026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018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FFE7D-C938-4E28-99F3-06FA598F2CE2}" type="datetime1">
              <a:rPr lang="ru-RU" smtClean="0"/>
              <a:t>23.01.2026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5638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EAD02-81FD-476A-A934-39D412F6A534}" type="datetime1">
              <a:rPr lang="ru-RU" smtClean="0"/>
              <a:t>23.01.2026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882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A77FD-3CDF-47B5-AF1A-B57779CA5927}" type="datetime1">
              <a:rPr lang="ru-RU" smtClean="0"/>
              <a:t>23.01.2026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791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15798-E941-4EE2-8787-B5189EEAAF58}" type="datetime1">
              <a:rPr lang="ru-RU" smtClean="0"/>
              <a:t>23.01.2026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2451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D6713-29C0-4399-A3E4-EA7F0F9B78B1}" type="datetime1">
              <a:rPr lang="ru-RU" smtClean="0"/>
              <a:t>23.01.2026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677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3EFFD-468F-42E7-B3C0-333211D20C9A}" type="datetime1">
              <a:rPr lang="ru-RU" smtClean="0"/>
              <a:t>23.01.2026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835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BA9F8-DBFD-4AFF-AAE6-818567FEF22B}" type="datetime1">
              <a:rPr lang="ru-RU" smtClean="0"/>
              <a:t>23.01.2026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5400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02395-D087-4CA9-A95A-0C6F05552BB6}" type="datetime1">
              <a:rPr lang="ru-RU" smtClean="0"/>
              <a:t>23.01.2026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539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B035F01D-5557-4729-89DC-FC9FCEFE2C80}" type="datetime1">
              <a:rPr lang="ru-RU" smtClean="0"/>
              <a:t>23.01.2026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2704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D1FE7-A3CC-47A6-B41B-AF10A862ED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0" i="0" cap="all" dirty="0">
                <a:solidFill>
                  <a:srgbClr val="FFFFFF"/>
                </a:solidFill>
                <a:effectLst/>
                <a:latin typeface="Inter"/>
              </a:rPr>
              <a:t>  Условные конструкции </a:t>
            </a:r>
            <a:r>
              <a:rPr lang="en-US" b="0" i="0" cap="all" dirty="0">
                <a:solidFill>
                  <a:srgbClr val="FFFFFF"/>
                </a:solidFill>
                <a:effectLst/>
                <a:latin typeface="Inter"/>
              </a:rPr>
              <a:t>if-</a:t>
            </a:r>
            <a:r>
              <a:rPr lang="en-US" b="0" i="0" cap="all" dirty="0" err="1">
                <a:solidFill>
                  <a:srgbClr val="FFFFFF"/>
                </a:solidFill>
                <a:effectLst/>
                <a:latin typeface="Inter"/>
              </a:rPr>
              <a:t>elif</a:t>
            </a:r>
            <a:r>
              <a:rPr lang="en-US" b="0" i="0" cap="all" dirty="0">
                <a:solidFill>
                  <a:srgbClr val="FFFFFF"/>
                </a:solidFill>
                <a:effectLst/>
                <a:latin typeface="Inter"/>
              </a:rPr>
              <a:t>-else. 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22F94E-2FDF-4C12-810D-4E517C9F6C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4B0B74BF-12D0-49B1-891E-E03AAA4A4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202" y="3946411"/>
            <a:ext cx="2454387" cy="245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4049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Условные конструкции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b="1" dirty="0"/>
              <a:t>Условные конструкции </a:t>
            </a:r>
            <a:r>
              <a:rPr lang="ru-RU" sz="2400" dirty="0"/>
              <a:t>- это способ заставить программу делать разные вещи в зависимости от того, что происходит или что введено. Например, если вам нужно, чтобы программа выводила одно сообщение, если введено правильное число, и другое — если оно неправильное.</a:t>
            </a:r>
          </a:p>
          <a:p>
            <a:pPr marL="45720" indent="0">
              <a:buNone/>
            </a:pPr>
            <a:r>
              <a:rPr lang="ru-RU" sz="2400" b="1" dirty="0"/>
              <a:t>Ключевая структура: </a:t>
            </a:r>
            <a:r>
              <a:rPr lang="en-US" sz="2400" b="1" dirty="0">
                <a:solidFill>
                  <a:srgbClr val="FF0000"/>
                </a:solidFill>
              </a:rPr>
              <a:t>if-else</a:t>
            </a:r>
            <a:endParaRPr lang="ru-RU" sz="2400" b="1" dirty="0">
              <a:solidFill>
                <a:srgbClr val="FF0000"/>
              </a:solidFill>
            </a:endParaRPr>
          </a:p>
          <a:p>
            <a:pPr marL="45720" indent="0">
              <a:buNone/>
            </a:pPr>
            <a:r>
              <a:rPr lang="ru-RU" sz="2400" b="1" dirty="0"/>
              <a:t>Синтаксис конструкции </a:t>
            </a:r>
            <a:r>
              <a:rPr lang="en-US" sz="2400" b="1" dirty="0"/>
              <a:t>if-else</a:t>
            </a:r>
            <a:endParaRPr lang="ru-RU" sz="2400" b="1" dirty="0"/>
          </a:p>
          <a:p>
            <a:pPr marL="45720" indent="0">
              <a:buNone/>
            </a:pPr>
            <a:endParaRPr lang="ru-RU" sz="2400" b="1" dirty="0"/>
          </a:p>
          <a:p>
            <a:pPr marL="45720" indent="0">
              <a:buNone/>
            </a:pPr>
            <a:endParaRPr lang="ru-RU" sz="2400" b="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4948723-3253-4A93-B836-6E75E05BE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041" y="3602826"/>
            <a:ext cx="6742388" cy="2242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691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Условные конструкции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r>
              <a:rPr lang="ru-RU" sz="2400" b="1" dirty="0"/>
              <a:t>Пример</a:t>
            </a:r>
          </a:p>
          <a:p>
            <a:pPr marL="45720" indent="0">
              <a:buNone/>
            </a:pPr>
            <a:r>
              <a:rPr lang="ru-RU" sz="2400" dirty="0"/>
              <a:t>Напишем программу, которая проверяет, является ли число положительным или отрицательным:</a:t>
            </a:r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r>
              <a:rPr lang="ru-RU" sz="2400" dirty="0"/>
              <a:t>Как «думает» компьютер</a:t>
            </a:r>
          </a:p>
          <a:p>
            <a:r>
              <a:rPr lang="ru-RU" sz="2400" dirty="0"/>
              <a:t>Программа начинает с проверки, истинно ли условие «</a:t>
            </a:r>
            <a:r>
              <a:rPr lang="ru-RU" sz="2400" dirty="0" err="1"/>
              <a:t>number</a:t>
            </a:r>
            <a:r>
              <a:rPr lang="ru-RU" sz="2400" dirty="0"/>
              <a:t> &gt; 0». Если да, выполняется блок с командой </a:t>
            </a:r>
            <a:r>
              <a:rPr lang="ru-RU" sz="2400" dirty="0" err="1"/>
              <a:t>print</a:t>
            </a:r>
            <a:r>
              <a:rPr lang="ru-RU" sz="2400" dirty="0"/>
              <a:t>(«Число положительное.»).</a:t>
            </a:r>
          </a:p>
          <a:p>
            <a:r>
              <a:rPr lang="ru-RU" sz="2400" dirty="0"/>
              <a:t>Если условие ложно, выполняется блок после </a:t>
            </a:r>
            <a:r>
              <a:rPr lang="ru-RU" sz="2400" dirty="0" err="1"/>
              <a:t>else</a:t>
            </a:r>
            <a:r>
              <a:rPr lang="ru-RU" sz="2400" dirty="0"/>
              <a:t>, и на экран выводится сообщение «Число отрицательное или равно нулю».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3</a:t>
            </a:fld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168ABAD-00F9-40D2-9318-AAEE9713D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8" y="2233444"/>
            <a:ext cx="9251578" cy="223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860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Условное выражение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b="1" dirty="0"/>
              <a:t>Условное выражение </a:t>
            </a:r>
            <a:r>
              <a:rPr lang="ru-RU" sz="2400" dirty="0"/>
              <a:t>– это логическое утверждение, которое может быть истинным или ложным. Оно может содержать операции сравнения.</a:t>
            </a:r>
          </a:p>
          <a:p>
            <a:pPr marL="45720" indent="0">
              <a:buNone/>
            </a:pPr>
            <a:r>
              <a:rPr lang="ru-RU" sz="2400" u="sng" dirty="0"/>
              <a:t>Операции сравнения:</a:t>
            </a:r>
          </a:p>
          <a:p>
            <a:r>
              <a:rPr lang="ru-RU" sz="2400" b="1" dirty="0">
                <a:solidFill>
                  <a:srgbClr val="FF0000"/>
                </a:solidFill>
              </a:rPr>
              <a:t>&gt;</a:t>
            </a:r>
            <a:r>
              <a:rPr lang="ru-RU" sz="2400" b="1" dirty="0"/>
              <a:t> </a:t>
            </a:r>
            <a:r>
              <a:rPr lang="ru-RU" sz="2400" dirty="0"/>
              <a:t>(больше)</a:t>
            </a:r>
          </a:p>
          <a:p>
            <a:r>
              <a:rPr lang="ru-RU" sz="2400" b="1" dirty="0">
                <a:solidFill>
                  <a:srgbClr val="FF0000"/>
                </a:solidFill>
              </a:rPr>
              <a:t>&lt;</a:t>
            </a:r>
            <a:r>
              <a:rPr lang="ru-RU" sz="2400" b="1" dirty="0"/>
              <a:t> </a:t>
            </a:r>
            <a:r>
              <a:rPr lang="ru-RU" sz="2400" dirty="0"/>
              <a:t>(меньше)</a:t>
            </a:r>
          </a:p>
          <a:p>
            <a:r>
              <a:rPr lang="ru-RU" sz="2400" b="1" dirty="0">
                <a:solidFill>
                  <a:srgbClr val="FF0000"/>
                </a:solidFill>
              </a:rPr>
              <a:t>&gt;=</a:t>
            </a:r>
            <a:r>
              <a:rPr lang="ru-RU" sz="2400" dirty="0"/>
              <a:t> (больше или равно)</a:t>
            </a:r>
          </a:p>
          <a:p>
            <a:r>
              <a:rPr lang="ru-RU" sz="2400" b="1" dirty="0">
                <a:solidFill>
                  <a:srgbClr val="FF0000"/>
                </a:solidFill>
              </a:rPr>
              <a:t>&lt;=</a:t>
            </a:r>
            <a:r>
              <a:rPr lang="ru-RU" sz="2400" dirty="0"/>
              <a:t> (меньше или равно)</a:t>
            </a:r>
          </a:p>
          <a:p>
            <a:r>
              <a:rPr lang="ru-RU" sz="2400" b="1" dirty="0">
                <a:solidFill>
                  <a:srgbClr val="FF0000"/>
                </a:solidFill>
              </a:rPr>
              <a:t>==</a:t>
            </a:r>
            <a:r>
              <a:rPr lang="ru-RU" sz="2400" dirty="0"/>
              <a:t> (равно)</a:t>
            </a:r>
          </a:p>
          <a:p>
            <a:r>
              <a:rPr lang="ru-RU" sz="2400" b="1" dirty="0">
                <a:solidFill>
                  <a:srgbClr val="FF0000"/>
                </a:solidFill>
              </a:rPr>
              <a:t>!=</a:t>
            </a:r>
            <a:r>
              <a:rPr lang="ru-RU" sz="2400" dirty="0"/>
              <a:t> (не равно)</a:t>
            </a:r>
          </a:p>
          <a:p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4</a:t>
            </a:fld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253072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Условное выражение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/>
              <a:t>Пример:</a:t>
            </a:r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r>
              <a:rPr lang="ru-RU" sz="2400" dirty="0"/>
              <a:t>Задание №1:</a:t>
            </a:r>
            <a:br>
              <a:rPr lang="ru-RU" sz="2400" dirty="0"/>
            </a:br>
            <a:r>
              <a:rPr lang="ru-RU" sz="2400" dirty="0"/>
              <a:t>Напишите программу которая будет сравнивать два числа и выводить то, которое меньше</a:t>
            </a:r>
          </a:p>
          <a:p>
            <a:pPr marL="45720" indent="0">
              <a:buNone/>
            </a:pPr>
            <a:r>
              <a:rPr lang="ru-RU" sz="2400" dirty="0"/>
              <a:t>Задание №2:</a:t>
            </a:r>
          </a:p>
          <a:p>
            <a:pPr marL="45720" indent="0">
              <a:buNone/>
            </a:pPr>
            <a:r>
              <a:rPr lang="ru-RU" sz="2400" dirty="0"/>
              <a:t>Напишите программу которая будет получать от пользователя два числа и выводить на экран то, которое больше.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5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2B52827-0C85-4B8C-B8E5-A40C0476B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12" y="1592315"/>
            <a:ext cx="3678954" cy="106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89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Вложенные условия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/>
              <a:t>Иногда можно вкладывать одну условную конструкцию внутрь другой, чтобы делать более сложные проверки. Это называется </a:t>
            </a:r>
            <a:r>
              <a:rPr lang="ru-RU" sz="2400" b="1" dirty="0"/>
              <a:t>вложенными условиями.</a:t>
            </a:r>
          </a:p>
          <a:p>
            <a:pPr marL="45720" indent="0">
              <a:buNone/>
            </a:pPr>
            <a:r>
              <a:rPr lang="ru-RU" sz="2400" dirty="0"/>
              <a:t>Пример:</a:t>
            </a:r>
          </a:p>
          <a:p>
            <a:pPr marL="45720" indent="0">
              <a:buNone/>
            </a:pPr>
            <a:endParaRPr lang="ru-RU" sz="2400" b="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6</a:t>
            </a:fld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CCF4129-3915-4F74-8DD2-02416CDB4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41" y="2453148"/>
            <a:ext cx="7547036" cy="373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846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Условие «</a:t>
            </a:r>
            <a:r>
              <a:rPr lang="en-US" sz="4400" dirty="0"/>
              <a:t>if» </a:t>
            </a:r>
            <a:r>
              <a:rPr lang="ru-RU" sz="4400" dirty="0"/>
              <a:t>без «</a:t>
            </a:r>
            <a:r>
              <a:rPr lang="en-US" sz="4400" dirty="0"/>
              <a:t>else»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/>
              <a:t>Иногда можно использовать только </a:t>
            </a:r>
            <a:r>
              <a:rPr lang="ru-RU" sz="2400" dirty="0" err="1"/>
              <a:t>if</a:t>
            </a:r>
            <a:r>
              <a:rPr lang="ru-RU" sz="2400" dirty="0"/>
              <a:t>, без </a:t>
            </a:r>
            <a:r>
              <a:rPr lang="ru-RU" sz="2400" dirty="0" err="1"/>
              <a:t>else</a:t>
            </a:r>
            <a:r>
              <a:rPr lang="ru-RU" sz="2400" dirty="0"/>
              <a:t>, если мы хотим выполнить действие, только если условие истинно, а если оно ложно — ничего не делать.</a:t>
            </a:r>
          </a:p>
          <a:p>
            <a:pPr marL="45720" indent="0">
              <a:buNone/>
            </a:pPr>
            <a:r>
              <a:rPr lang="ru-RU" sz="2400" dirty="0"/>
              <a:t>Пример:</a:t>
            </a:r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r>
              <a:rPr lang="ru-RU" sz="2400" dirty="0"/>
              <a:t>Здесь программа только проверяет, чётное ли число. Если да — выводит сообщение, если нет — программа ничего не выводит.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7</a:t>
            </a:fld>
            <a:endParaRPr lang="ru-RU" sz="20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B00B308-39A3-427A-B60D-E2F485BE0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06" y="2535543"/>
            <a:ext cx="8527973" cy="189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313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Использование логических операторов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ru-RU" sz="2400" dirty="0"/>
              <a:t>Логические операторы:</a:t>
            </a:r>
          </a:p>
          <a:p>
            <a:pPr marL="216000">
              <a:spcBef>
                <a:spcPts val="600"/>
              </a:spcBef>
            </a:pPr>
            <a:r>
              <a:rPr lang="ru-RU" sz="2400" b="1" dirty="0" err="1">
                <a:solidFill>
                  <a:srgbClr val="FF0000"/>
                </a:solidFill>
              </a:rPr>
              <a:t>and</a:t>
            </a:r>
            <a:r>
              <a:rPr lang="ru-RU" sz="2400" dirty="0"/>
              <a:t> — логическое «</a:t>
            </a:r>
            <a:r>
              <a:rPr lang="ru-RU" sz="2400" b="1" dirty="0">
                <a:solidFill>
                  <a:srgbClr val="FF0000"/>
                </a:solidFill>
              </a:rPr>
              <a:t>И</a:t>
            </a:r>
            <a:r>
              <a:rPr lang="ru-RU" sz="2400" dirty="0"/>
              <a:t>»: условие истинно, если истинны оба выражения.</a:t>
            </a:r>
          </a:p>
          <a:p>
            <a:pPr marL="216000">
              <a:spcBef>
                <a:spcPts val="1200"/>
              </a:spcBef>
            </a:pPr>
            <a:r>
              <a:rPr lang="ru-RU" sz="2400" b="1" dirty="0" err="1">
                <a:solidFill>
                  <a:srgbClr val="FF0000"/>
                </a:solidFill>
              </a:rPr>
              <a:t>or</a:t>
            </a:r>
            <a:r>
              <a:rPr lang="ru-RU" sz="2400" dirty="0"/>
              <a:t> — логическое «</a:t>
            </a:r>
            <a:r>
              <a:rPr lang="ru-RU" sz="2400" b="1" dirty="0">
                <a:solidFill>
                  <a:srgbClr val="FF0000"/>
                </a:solidFill>
              </a:rPr>
              <a:t>ИЛИ</a:t>
            </a:r>
            <a:r>
              <a:rPr lang="ru-RU" sz="2400" dirty="0"/>
              <a:t>»: условие истинно, если истинно хотя бы одно выражение.</a:t>
            </a:r>
          </a:p>
          <a:p>
            <a:pPr marL="216000">
              <a:spcBef>
                <a:spcPts val="1200"/>
              </a:spcBef>
            </a:pPr>
            <a:r>
              <a:rPr lang="ru-RU" sz="2400" b="1" dirty="0" err="1">
                <a:solidFill>
                  <a:srgbClr val="FF0000"/>
                </a:solidFill>
              </a:rPr>
              <a:t>not</a:t>
            </a:r>
            <a:r>
              <a:rPr lang="ru-RU" sz="2400" dirty="0"/>
              <a:t> — логическое «</a:t>
            </a:r>
            <a:r>
              <a:rPr lang="ru-RU" sz="2400" b="1" dirty="0">
                <a:solidFill>
                  <a:srgbClr val="FF0000"/>
                </a:solidFill>
              </a:rPr>
              <a:t>НЕ</a:t>
            </a:r>
            <a:r>
              <a:rPr lang="ru-RU" sz="2400" dirty="0"/>
              <a:t>»: инвертирует результат (истинное становится ложным и наоборот).</a:t>
            </a:r>
            <a:endParaRPr lang="en-US" sz="2400" dirty="0"/>
          </a:p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Пример </a:t>
            </a:r>
            <a:r>
              <a:rPr lang="en-US" sz="2400" b="1" dirty="0">
                <a:solidFill>
                  <a:srgbClr val="FF0000"/>
                </a:solidFill>
              </a:rPr>
              <a:t>and</a:t>
            </a:r>
            <a:endParaRPr lang="ru-RU" sz="2400" b="1" dirty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r>
              <a:rPr lang="ru-RU" sz="2400" dirty="0"/>
              <a:t>Конструкция </a:t>
            </a:r>
            <a:r>
              <a:rPr lang="ru-RU" sz="2400" dirty="0" err="1"/>
              <a:t>if</a:t>
            </a:r>
            <a:r>
              <a:rPr lang="ru-RU" sz="2400" dirty="0"/>
              <a:t> проверяет — находится ли переменная </a:t>
            </a:r>
            <a:r>
              <a:rPr lang="ru-RU" sz="2400" dirty="0" err="1"/>
              <a:t>temperature</a:t>
            </a:r>
            <a:r>
              <a:rPr lang="ru-RU" sz="2400" dirty="0"/>
              <a:t> в промежутке боль 20 и меньше 30.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8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03EDEB7-2BE1-4101-BAFA-5F11DC59F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8" y="4003376"/>
            <a:ext cx="8310284" cy="1600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058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Использование логических операторов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/>
              <a:t>Пример </a:t>
            </a:r>
            <a:r>
              <a:rPr lang="en-US" sz="2400" b="1" dirty="0">
                <a:solidFill>
                  <a:srgbClr val="FF0000"/>
                </a:solidFill>
              </a:rPr>
              <a:t>or</a:t>
            </a:r>
            <a:endParaRPr lang="ru-RU" sz="2400" b="1" dirty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pPr marL="45720" indent="0">
              <a:buNone/>
            </a:pPr>
            <a:r>
              <a:rPr lang="ru-RU" sz="2400" dirty="0"/>
              <a:t>Программа выполнит действие внутри конструкции </a:t>
            </a:r>
            <a:r>
              <a:rPr lang="ru-RU" sz="2400" dirty="0" err="1"/>
              <a:t>if</a:t>
            </a:r>
            <a:r>
              <a:rPr lang="ru-RU" sz="2400" dirty="0"/>
              <a:t> при любом из двух имён.</a:t>
            </a:r>
            <a:endParaRPr lang="en-US" sz="2400" dirty="0"/>
          </a:p>
          <a:p>
            <a:pPr marL="45720" indent="0">
              <a:buNone/>
            </a:pPr>
            <a:r>
              <a:rPr lang="ru-RU" sz="2400" dirty="0"/>
              <a:t>Пример </a:t>
            </a:r>
            <a:r>
              <a:rPr lang="en-US" sz="2400" b="1" dirty="0">
                <a:solidFill>
                  <a:srgbClr val="FF0000"/>
                </a:solidFill>
              </a:rPr>
              <a:t>not</a:t>
            </a:r>
          </a:p>
          <a:p>
            <a:pPr marL="45720" indent="0">
              <a:buNone/>
            </a:pPr>
            <a:endParaRPr lang="en-US" sz="2400" b="1" dirty="0"/>
          </a:p>
          <a:p>
            <a:pPr marL="45720" indent="0">
              <a:buNone/>
            </a:pPr>
            <a:endParaRPr lang="ru-RU" sz="2400" b="1" dirty="0"/>
          </a:p>
          <a:p>
            <a:pPr marL="45720" indent="0">
              <a:buNone/>
            </a:pPr>
            <a:r>
              <a:rPr lang="ru-RU" sz="2400" dirty="0"/>
              <a:t>Программа проверяет значение переменной </a:t>
            </a:r>
            <a:r>
              <a:rPr lang="ru-RU" sz="2400" dirty="0" err="1"/>
              <a:t>is_raining</a:t>
            </a:r>
            <a:r>
              <a:rPr lang="ru-RU" sz="2400" dirty="0"/>
              <a:t>. Переменная, которая изначально имеет значение </a:t>
            </a:r>
            <a:r>
              <a:rPr lang="ru-RU" sz="2400" dirty="0" err="1"/>
              <a:t>False</a:t>
            </a:r>
            <a:r>
              <a:rPr lang="ru-RU" sz="2400" dirty="0"/>
              <a:t>, внутри условной конструкции принимает значение </a:t>
            </a:r>
            <a:r>
              <a:rPr lang="ru-RU" sz="2400" dirty="0" err="1"/>
              <a:t>True</a:t>
            </a:r>
            <a:r>
              <a:rPr lang="ru-RU" sz="2400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9</a:t>
            </a:fld>
            <a:endParaRPr lang="ru-RU" sz="20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8A8627B-FBFB-452B-8B9B-BFA48E47B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00" y="1566233"/>
            <a:ext cx="9665789" cy="1661061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3B22C51-106F-4DDA-84B2-ADC3C1483B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9" y="4104367"/>
            <a:ext cx="7849847" cy="115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468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Особенности синтаксиса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r>
              <a:rPr lang="ru-RU" sz="2800" b="1" dirty="0"/>
              <a:t>Отступы:</a:t>
            </a:r>
          </a:p>
          <a:p>
            <a:pPr marL="45720" indent="0">
              <a:buNone/>
            </a:pPr>
            <a:r>
              <a:rPr lang="ru-RU" sz="2800" dirty="0"/>
              <a:t>Очень важно правильно оформлять </a:t>
            </a:r>
            <a:r>
              <a:rPr lang="ru-RU" sz="2800" b="1" dirty="0"/>
              <a:t>отступы</a:t>
            </a:r>
            <a:r>
              <a:rPr lang="ru-RU" sz="2800" dirty="0"/>
              <a:t>. В Python отступы определяют, какой код принадлежит к какому блоку. Обычно используется 4 пробела для каждого уровня вложенности.</a:t>
            </a:r>
          </a:p>
          <a:p>
            <a:r>
              <a:rPr lang="ru-RU" sz="2800" b="1" dirty="0"/>
              <a:t>Двоеточие:</a:t>
            </a:r>
          </a:p>
          <a:p>
            <a:pPr marL="45720" indent="0">
              <a:buNone/>
            </a:pPr>
            <a:r>
              <a:rPr lang="ru-RU" sz="2800" dirty="0"/>
              <a:t>После ключевого слова </a:t>
            </a:r>
            <a:r>
              <a:rPr lang="ru-RU" sz="2800" b="1" u="sng" dirty="0" err="1">
                <a:solidFill>
                  <a:srgbClr val="FF0000"/>
                </a:solidFill>
              </a:rPr>
              <a:t>if</a:t>
            </a:r>
            <a:r>
              <a:rPr lang="ru-RU" sz="2800" b="1" u="sng" dirty="0">
                <a:solidFill>
                  <a:srgbClr val="FF0000"/>
                </a:solidFill>
              </a:rPr>
              <a:t>, </a:t>
            </a:r>
            <a:r>
              <a:rPr lang="ru-RU" sz="2800" b="1" u="sng" dirty="0" err="1">
                <a:solidFill>
                  <a:srgbClr val="FF0000"/>
                </a:solidFill>
              </a:rPr>
              <a:t>elif</a:t>
            </a:r>
            <a:r>
              <a:rPr lang="ru-RU" sz="2800" b="1" u="sng" dirty="0">
                <a:solidFill>
                  <a:srgbClr val="FF0000"/>
                </a:solidFill>
              </a:rPr>
              <a:t> </a:t>
            </a:r>
            <a:r>
              <a:rPr lang="ru-RU" sz="2800" dirty="0"/>
              <a:t>или </a:t>
            </a:r>
            <a:r>
              <a:rPr lang="ru-RU" sz="2800" b="1" u="sng" dirty="0" err="1">
                <a:solidFill>
                  <a:srgbClr val="FF0000"/>
                </a:solidFill>
              </a:rPr>
              <a:t>else</a:t>
            </a:r>
            <a:r>
              <a:rPr lang="ru-RU" sz="2800" dirty="0"/>
              <a:t> </a:t>
            </a:r>
            <a:r>
              <a:rPr lang="ru-RU" sz="2800" b="1" u="sng" dirty="0"/>
              <a:t>ВСЕГДА</a:t>
            </a:r>
            <a:r>
              <a:rPr lang="ru-RU" sz="2800" dirty="0"/>
              <a:t> ставится двоеточие </a:t>
            </a:r>
            <a:r>
              <a:rPr lang="ru-RU" sz="2800" b="1" dirty="0">
                <a:solidFill>
                  <a:srgbClr val="FF0000"/>
                </a:solidFill>
              </a:rPr>
              <a:t>:</a:t>
            </a:r>
            <a:r>
              <a:rPr lang="ru-RU" sz="2800" dirty="0"/>
              <a:t>, чтобы Python понял, что начинается блок кода.</a:t>
            </a:r>
          </a:p>
          <a:p>
            <a:r>
              <a:rPr lang="ru-RU" sz="2800" b="1" dirty="0"/>
              <a:t>Форматирование:</a:t>
            </a:r>
          </a:p>
          <a:p>
            <a:pPr marL="45720" indent="0">
              <a:buNone/>
            </a:pPr>
            <a:r>
              <a:rPr lang="ru-RU" sz="2800" dirty="0"/>
              <a:t>Крайне рекомендуется писать код чисто и понятно, чтобы было легче его читать и поддерживать.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10</a:t>
            </a:fld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42299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Расширенная структура </a:t>
            </a:r>
            <a:r>
              <a:rPr lang="en-US" sz="4400" dirty="0"/>
              <a:t>if-</a:t>
            </a:r>
            <a:r>
              <a:rPr lang="en-US" sz="4400" dirty="0" err="1"/>
              <a:t>elif</a:t>
            </a:r>
            <a:r>
              <a:rPr lang="en-US" sz="4400" dirty="0"/>
              <a:t>-else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/>
              <a:t>Когда мы хотим проверить не одно, а </a:t>
            </a:r>
            <a:r>
              <a:rPr lang="ru-RU" sz="2400" b="1" dirty="0"/>
              <a:t>несколько</a:t>
            </a:r>
            <a:r>
              <a:rPr lang="ru-RU" sz="2400" dirty="0"/>
              <a:t> возможных условий, мы используем конструкцию </a:t>
            </a:r>
            <a:r>
              <a:rPr lang="ru-RU" sz="2400" b="1" dirty="0" err="1">
                <a:solidFill>
                  <a:srgbClr val="FF0000"/>
                </a:solidFill>
              </a:rPr>
              <a:t>if</a:t>
            </a:r>
            <a:r>
              <a:rPr lang="ru-RU" sz="2400" b="1" dirty="0">
                <a:solidFill>
                  <a:srgbClr val="FF0000"/>
                </a:solidFill>
              </a:rPr>
              <a:t> — </a:t>
            </a:r>
            <a:r>
              <a:rPr lang="ru-RU" sz="2400" b="1" dirty="0" err="1">
                <a:solidFill>
                  <a:srgbClr val="FF0000"/>
                </a:solidFill>
              </a:rPr>
              <a:t>elif</a:t>
            </a:r>
            <a:r>
              <a:rPr lang="ru-RU" sz="2400" b="1" dirty="0">
                <a:solidFill>
                  <a:srgbClr val="FF0000"/>
                </a:solidFill>
              </a:rPr>
              <a:t> — </a:t>
            </a:r>
            <a:r>
              <a:rPr lang="ru-RU" sz="2400" b="1" dirty="0" err="1">
                <a:solidFill>
                  <a:srgbClr val="FF0000"/>
                </a:solidFill>
              </a:rPr>
              <a:t>else</a:t>
            </a:r>
            <a:r>
              <a:rPr lang="ru-RU" sz="2400" dirty="0"/>
              <a:t>.</a:t>
            </a:r>
            <a:endParaRPr lang="en-US" sz="2400" dirty="0"/>
          </a:p>
          <a:p>
            <a:pPr marL="45720" indent="0">
              <a:buNone/>
            </a:pPr>
            <a:r>
              <a:rPr lang="en-US" sz="2400" b="1" dirty="0" err="1">
                <a:solidFill>
                  <a:srgbClr val="FF0000"/>
                </a:solidFill>
              </a:rPr>
              <a:t>i</a:t>
            </a:r>
            <a:r>
              <a:rPr lang="ru-RU" sz="2400" b="1" dirty="0">
                <a:solidFill>
                  <a:srgbClr val="FF0000"/>
                </a:solidFill>
              </a:rPr>
              <a:t>f </a:t>
            </a:r>
            <a:r>
              <a:rPr lang="ru-RU" sz="2400" b="1" dirty="0">
                <a:solidFill>
                  <a:srgbClr val="0F6FC6"/>
                </a:solidFill>
              </a:rPr>
              <a:t>– если</a:t>
            </a:r>
          </a:p>
          <a:p>
            <a:pPr marL="45720" indent="0">
              <a:buNone/>
            </a:pPr>
            <a:r>
              <a:rPr lang="ru-RU" sz="2400" b="1" dirty="0" err="1">
                <a:solidFill>
                  <a:srgbClr val="FF0000"/>
                </a:solidFill>
              </a:rPr>
              <a:t>elif</a:t>
            </a:r>
            <a:r>
              <a:rPr lang="ru-RU" sz="2400" b="1" dirty="0">
                <a:solidFill>
                  <a:srgbClr val="FF0000"/>
                </a:solidFill>
              </a:rPr>
              <a:t> </a:t>
            </a:r>
            <a:r>
              <a:rPr lang="ru-RU" sz="2400" b="1" dirty="0">
                <a:solidFill>
                  <a:srgbClr val="0F6FC6"/>
                </a:solidFill>
              </a:rPr>
              <a:t>–</a:t>
            </a:r>
            <a:r>
              <a:rPr lang="en-US" sz="2400" b="1" dirty="0">
                <a:solidFill>
                  <a:srgbClr val="0F6FC6"/>
                </a:solidFill>
              </a:rPr>
              <a:t> </a:t>
            </a:r>
            <a:r>
              <a:rPr lang="ru-RU" sz="2400" b="1" dirty="0">
                <a:solidFill>
                  <a:srgbClr val="0F6FC6"/>
                </a:solidFill>
              </a:rPr>
              <a:t>иначе если</a:t>
            </a:r>
          </a:p>
          <a:p>
            <a:pPr marL="45720" indent="0">
              <a:buNone/>
            </a:pPr>
            <a:r>
              <a:rPr lang="ru-RU" sz="2400" b="1" dirty="0" err="1">
                <a:solidFill>
                  <a:srgbClr val="FF0000"/>
                </a:solidFill>
              </a:rPr>
              <a:t>else</a:t>
            </a:r>
            <a:r>
              <a:rPr lang="ru-RU" sz="2400" b="1" dirty="0">
                <a:solidFill>
                  <a:srgbClr val="FF0000"/>
                </a:solidFill>
              </a:rPr>
              <a:t> </a:t>
            </a:r>
            <a:r>
              <a:rPr lang="ru-RU" sz="2400" b="1" dirty="0">
                <a:solidFill>
                  <a:srgbClr val="0F6FC6"/>
                </a:solidFill>
              </a:rPr>
              <a:t>– иначе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11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B6E51EC-7679-4595-A941-1781037D9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51" y="3458102"/>
            <a:ext cx="8140728" cy="305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152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341" y="350260"/>
            <a:ext cx="1131345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Расширенная структура </a:t>
            </a:r>
            <a:r>
              <a:rPr lang="en-US" sz="4400" dirty="0"/>
              <a:t>if-</a:t>
            </a:r>
            <a:r>
              <a:rPr lang="en-US" sz="4400" dirty="0" err="1"/>
              <a:t>elif</a:t>
            </a:r>
            <a:r>
              <a:rPr lang="en-US" sz="4400" dirty="0"/>
              <a:t>-else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084733"/>
            <a:ext cx="11214847" cy="535094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2400" b="1" dirty="0" err="1">
                <a:solidFill>
                  <a:srgbClr val="FF0000"/>
                </a:solidFill>
              </a:rPr>
              <a:t>i</a:t>
            </a:r>
            <a:r>
              <a:rPr lang="ru-RU" sz="2400" b="1" dirty="0">
                <a:solidFill>
                  <a:srgbClr val="FF0000"/>
                </a:solidFill>
              </a:rPr>
              <a:t>f </a:t>
            </a:r>
            <a:r>
              <a:rPr lang="ru-RU" sz="2400" b="1" dirty="0">
                <a:solidFill>
                  <a:srgbClr val="0F6FC6"/>
                </a:solidFill>
              </a:rPr>
              <a:t>–</a:t>
            </a:r>
            <a:r>
              <a:rPr lang="ru-RU" sz="2400" b="1" dirty="0">
                <a:solidFill>
                  <a:srgbClr val="FF0000"/>
                </a:solidFill>
              </a:rPr>
              <a:t> </a:t>
            </a:r>
            <a:r>
              <a:rPr lang="ru-RU" sz="2400" b="1" dirty="0">
                <a:solidFill>
                  <a:srgbClr val="0F6FC6"/>
                </a:solidFill>
              </a:rPr>
              <a:t>если</a:t>
            </a:r>
            <a:r>
              <a:rPr lang="ru-RU" sz="2400" b="1" dirty="0">
                <a:solidFill>
                  <a:srgbClr val="FF0000"/>
                </a:solidFill>
              </a:rPr>
              <a:t> 		 	</a:t>
            </a:r>
            <a:r>
              <a:rPr lang="ru-RU" sz="2400" b="1" dirty="0" err="1">
                <a:solidFill>
                  <a:srgbClr val="FF0000"/>
                </a:solidFill>
              </a:rPr>
              <a:t>elif</a:t>
            </a:r>
            <a:r>
              <a:rPr lang="ru-RU" sz="2400" b="1" dirty="0">
                <a:solidFill>
                  <a:srgbClr val="FF0000"/>
                </a:solidFill>
              </a:rPr>
              <a:t> </a:t>
            </a:r>
            <a:r>
              <a:rPr lang="ru-RU" sz="2400" b="1" dirty="0">
                <a:solidFill>
                  <a:srgbClr val="0F6FC6"/>
                </a:solidFill>
              </a:rPr>
              <a:t>–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ru-RU" sz="2400" b="1" dirty="0">
                <a:solidFill>
                  <a:srgbClr val="0F6FC6"/>
                </a:solidFill>
              </a:rPr>
              <a:t>иначе если</a:t>
            </a:r>
            <a:r>
              <a:rPr lang="ru-RU" sz="2400" b="1" dirty="0">
                <a:solidFill>
                  <a:srgbClr val="FF0000"/>
                </a:solidFill>
              </a:rPr>
              <a:t>			</a:t>
            </a:r>
            <a:r>
              <a:rPr lang="ru-RU" sz="2400" b="1" dirty="0" err="1">
                <a:solidFill>
                  <a:srgbClr val="FF0000"/>
                </a:solidFill>
              </a:rPr>
              <a:t>else</a:t>
            </a:r>
            <a:r>
              <a:rPr lang="ru-RU" sz="2400" b="1" dirty="0">
                <a:solidFill>
                  <a:srgbClr val="FF0000"/>
                </a:solidFill>
              </a:rPr>
              <a:t> </a:t>
            </a:r>
            <a:r>
              <a:rPr lang="ru-RU" sz="2400" b="1" dirty="0">
                <a:solidFill>
                  <a:srgbClr val="0F6FC6"/>
                </a:solidFill>
              </a:rPr>
              <a:t>– иначе</a:t>
            </a:r>
          </a:p>
          <a:p>
            <a:pPr marL="45720" indent="0">
              <a:buNone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12</a:t>
            </a:fld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1D0136C-FCBE-4AA0-A8BD-CB7809968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186" y="1737915"/>
            <a:ext cx="9871137" cy="4521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204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r>
              <a:rPr lang="ru-RU" sz="4400" dirty="0"/>
              <a:t>Важно понимать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r>
              <a:rPr lang="ru-RU" sz="2800" b="1" dirty="0" err="1">
                <a:solidFill>
                  <a:srgbClr val="FF0000"/>
                </a:solidFill>
              </a:rPr>
              <a:t>if</a:t>
            </a:r>
            <a:r>
              <a:rPr lang="ru-RU" sz="2800" dirty="0"/>
              <a:t> проверяется </a:t>
            </a:r>
            <a:r>
              <a:rPr lang="ru-RU" sz="2800" b="1" dirty="0"/>
              <a:t>всегда</a:t>
            </a:r>
            <a:r>
              <a:rPr lang="ru-RU" sz="2800" dirty="0"/>
              <a:t>.</a:t>
            </a:r>
          </a:p>
          <a:p>
            <a:r>
              <a:rPr lang="ru-RU" sz="2800" b="1" dirty="0" err="1">
                <a:solidFill>
                  <a:srgbClr val="FF0000"/>
                </a:solidFill>
              </a:rPr>
              <a:t>elif</a:t>
            </a:r>
            <a:r>
              <a:rPr lang="ru-RU" sz="2800" dirty="0"/>
              <a:t> проверяется только </a:t>
            </a:r>
            <a:r>
              <a:rPr lang="ru-RU" sz="2800" b="1" dirty="0"/>
              <a:t>если </a:t>
            </a:r>
            <a:r>
              <a:rPr lang="ru-RU" sz="2800" b="1" dirty="0" err="1">
                <a:solidFill>
                  <a:srgbClr val="FF0000"/>
                </a:solidFill>
              </a:rPr>
              <a:t>if</a:t>
            </a:r>
            <a:r>
              <a:rPr lang="ru-RU" sz="2800" b="1" dirty="0"/>
              <a:t> — </a:t>
            </a:r>
            <a:r>
              <a:rPr lang="ru-RU" sz="2800" b="1" dirty="0" err="1"/>
              <a:t>False</a:t>
            </a:r>
            <a:r>
              <a:rPr lang="ru-RU" sz="2800" dirty="0"/>
              <a:t>.</a:t>
            </a:r>
          </a:p>
          <a:p>
            <a:r>
              <a:rPr lang="ru-RU" sz="2800" b="1" dirty="0" err="1">
                <a:solidFill>
                  <a:srgbClr val="FF0000"/>
                </a:solidFill>
              </a:rPr>
              <a:t>else</a:t>
            </a:r>
            <a:r>
              <a:rPr lang="ru-RU" sz="2800" dirty="0"/>
              <a:t> — это запасной вариант, он срабатывает, если </a:t>
            </a:r>
            <a:r>
              <a:rPr lang="ru-RU" sz="2800" b="1" dirty="0"/>
              <a:t>всё остальное не подошло.</a:t>
            </a:r>
          </a:p>
          <a:p>
            <a:r>
              <a:rPr lang="ru-RU" sz="2800" dirty="0"/>
              <a:t>Старайтесь </a:t>
            </a:r>
            <a:r>
              <a:rPr lang="ru-RU" sz="2800" b="1" dirty="0"/>
              <a:t>не дублировать условия </a:t>
            </a:r>
            <a:r>
              <a:rPr lang="ru-RU" sz="2800" dirty="0"/>
              <a:t>— Python сам проверит по порядку.</a:t>
            </a:r>
          </a:p>
          <a:p>
            <a:r>
              <a:rPr lang="ru-RU" sz="2800" b="1" dirty="0" err="1">
                <a:solidFill>
                  <a:srgbClr val="FF0000"/>
                </a:solidFill>
              </a:rPr>
              <a:t>elif</a:t>
            </a:r>
            <a:r>
              <a:rPr lang="ru-RU" sz="2800" dirty="0"/>
              <a:t> может быть </a:t>
            </a:r>
            <a:r>
              <a:rPr lang="ru-RU" sz="2800" b="1" dirty="0"/>
              <a:t>сколько угодно</a:t>
            </a:r>
            <a:r>
              <a:rPr lang="ru-RU" sz="2800" dirty="0"/>
              <a:t>, </a:t>
            </a:r>
            <a:r>
              <a:rPr lang="ru-RU" sz="2800" b="1" dirty="0"/>
              <a:t>а </a:t>
            </a:r>
            <a:r>
              <a:rPr lang="ru-RU" sz="2800" b="1" dirty="0" err="1">
                <a:solidFill>
                  <a:srgbClr val="FF0000"/>
                </a:solidFill>
              </a:rPr>
              <a:t>else</a:t>
            </a:r>
            <a:r>
              <a:rPr lang="ru-RU" sz="2800" b="1" dirty="0"/>
              <a:t> — только </a:t>
            </a:r>
            <a:r>
              <a:rPr lang="ru-RU" sz="2800" b="1" u="sng" dirty="0">
                <a:solidFill>
                  <a:srgbClr val="FF0000"/>
                </a:solidFill>
              </a:rPr>
              <a:t>один</a:t>
            </a:r>
            <a:r>
              <a:rPr lang="ru-RU" sz="2800" b="1" dirty="0"/>
              <a:t> </a:t>
            </a:r>
            <a:r>
              <a:rPr lang="ru-RU" sz="2800" dirty="0"/>
              <a:t>и в самом конце.</a:t>
            </a:r>
          </a:p>
          <a:p>
            <a:r>
              <a:rPr lang="ru-RU" sz="2800" b="1" dirty="0"/>
              <a:t>Без </a:t>
            </a:r>
            <a:r>
              <a:rPr lang="ru-RU" sz="2800" b="1" dirty="0" err="1"/>
              <a:t>else</a:t>
            </a:r>
            <a:r>
              <a:rPr lang="ru-RU" sz="2800" b="1" dirty="0"/>
              <a:t> </a:t>
            </a:r>
            <a:r>
              <a:rPr lang="ru-RU" sz="2800" dirty="0"/>
              <a:t>тоже </a:t>
            </a:r>
            <a:r>
              <a:rPr lang="ru-RU" sz="2800" b="1" dirty="0"/>
              <a:t>можно</a:t>
            </a:r>
            <a:r>
              <a:rPr lang="ru-RU" sz="2800" dirty="0"/>
              <a:t> — просто программа ничего не сделает, если ни одно условие не подошло.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13</a:t>
            </a:fld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605239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r>
              <a:rPr lang="ru-RU" sz="4400" dirty="0"/>
              <a:t>Когда использовать </a:t>
            </a:r>
            <a:r>
              <a:rPr lang="en-US" sz="4400" dirty="0"/>
              <a:t>if-</a:t>
            </a:r>
            <a:r>
              <a:rPr lang="en-US" sz="4400" dirty="0" err="1"/>
              <a:t>elif</a:t>
            </a:r>
            <a:r>
              <a:rPr lang="en-US" sz="4400" dirty="0"/>
              <a:t>-else?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r>
              <a:rPr lang="ru-RU" sz="2800" dirty="0"/>
              <a:t>Когда у вас </a:t>
            </a:r>
            <a:r>
              <a:rPr lang="ru-RU" sz="2800" b="1" dirty="0"/>
              <a:t>несколько взаимоисключающих условий </a:t>
            </a:r>
            <a:r>
              <a:rPr lang="ru-RU" sz="2800" dirty="0"/>
              <a:t>(т.е. только одно из них должно быть выполнено).</a:t>
            </a:r>
          </a:p>
          <a:p>
            <a:r>
              <a:rPr lang="ru-RU" sz="2800" dirty="0"/>
              <a:t>Когда нужно</a:t>
            </a:r>
            <a:r>
              <a:rPr lang="ru-RU" sz="2800" b="1" dirty="0"/>
              <a:t> проверить значения переменной на несколько вариантов</a:t>
            </a:r>
            <a:r>
              <a:rPr lang="ru-RU" sz="2800" dirty="0"/>
              <a:t> (например, числа, время, текст и т.д.).</a:t>
            </a:r>
          </a:p>
          <a:p>
            <a:r>
              <a:rPr lang="ru-RU" sz="2800" dirty="0"/>
              <a:t>Когда вы хотите </a:t>
            </a:r>
            <a:r>
              <a:rPr lang="ru-RU" sz="2800" b="1" dirty="0"/>
              <a:t>сделать код читаемым и понятным</a:t>
            </a:r>
            <a:r>
              <a:rPr lang="ru-RU" sz="2800" dirty="0"/>
              <a:t>, не используя вложенные условные конструкции.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14</a:t>
            </a:fld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913312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D1FE7-A3CC-47A6-B41B-AF10A862ED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0" i="0" cap="all" dirty="0">
                <a:solidFill>
                  <a:srgbClr val="FFFFFF"/>
                </a:solidFill>
                <a:effectLst/>
                <a:latin typeface="Inter"/>
              </a:rPr>
              <a:t>  Цикл </a:t>
            </a:r>
            <a:r>
              <a:rPr lang="en-US" b="0" i="0" cap="all" dirty="0">
                <a:solidFill>
                  <a:srgbClr val="FFFFFF"/>
                </a:solidFill>
                <a:effectLst/>
                <a:latin typeface="Inter"/>
              </a:rPr>
              <a:t>for</a:t>
            </a:r>
            <a:r>
              <a:rPr lang="ru-RU" b="0" dirty="0">
                <a:latin typeface="Inter"/>
              </a:rPr>
              <a:t>.</a:t>
            </a:r>
            <a:br>
              <a:rPr lang="ru-RU" b="0" dirty="0">
                <a:latin typeface="Inter"/>
              </a:rPr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22F94E-2FDF-4C12-810D-4E517C9F6C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4B0B74BF-12D0-49B1-891E-E03AAA4A4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202" y="3946411"/>
            <a:ext cx="2454387" cy="245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4379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3" y="350260"/>
            <a:ext cx="11349314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Что такое цикл?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/>
              <a:t>Цикл</a:t>
            </a:r>
            <a:r>
              <a:rPr lang="en-US" sz="2400" dirty="0"/>
              <a:t> – </a:t>
            </a:r>
            <a:r>
              <a:rPr lang="ru-RU" sz="2400" dirty="0"/>
              <a:t>это специальная конструкция, которая позволяет выполнять действия несколько раз автоматически.</a:t>
            </a:r>
          </a:p>
          <a:p>
            <a:pPr marL="45720" indent="0">
              <a:buNone/>
            </a:pPr>
            <a:r>
              <a:rPr lang="ru-RU" sz="2400" dirty="0"/>
              <a:t>Один из самых популярных типов циклов в Python — это цикл </a:t>
            </a:r>
            <a:r>
              <a:rPr lang="ru-RU" sz="2400" b="1" dirty="0" err="1">
                <a:solidFill>
                  <a:srgbClr val="FF0000"/>
                </a:solidFill>
              </a:rPr>
              <a:t>for</a:t>
            </a:r>
            <a:r>
              <a:rPr lang="ru-RU" sz="2400" dirty="0"/>
              <a:t>. Он используется, когда мы знаем, </a:t>
            </a:r>
            <a:r>
              <a:rPr lang="ru-RU" sz="2400" b="1" dirty="0"/>
              <a:t>сколько раз нужно повторить действие</a:t>
            </a:r>
            <a:r>
              <a:rPr lang="ru-RU" sz="2400" dirty="0"/>
              <a:t>, или хотим пройтись по набору элементов.</a:t>
            </a:r>
          </a:p>
          <a:p>
            <a:pPr marL="45720" indent="0">
              <a:buNone/>
            </a:pPr>
            <a:r>
              <a:rPr lang="ru-RU" sz="2400" dirty="0"/>
              <a:t>Простая структура цикла </a:t>
            </a:r>
            <a:r>
              <a:rPr lang="en-US" sz="2400" b="1" dirty="0">
                <a:solidFill>
                  <a:srgbClr val="FF0000"/>
                </a:solidFill>
              </a:rPr>
              <a:t>for</a:t>
            </a:r>
            <a:r>
              <a:rPr lang="en-US" sz="2400" dirty="0"/>
              <a:t>:</a:t>
            </a: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16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4F8AFF6-33D9-4E1F-903D-50CBC5651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76" y="3629722"/>
            <a:ext cx="6434907" cy="121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6734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3" y="350260"/>
            <a:ext cx="11349314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Цикл </a:t>
            </a:r>
            <a:r>
              <a:rPr lang="en-US" sz="4400" dirty="0"/>
              <a:t>for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r>
              <a:rPr lang="ru-RU" sz="2400" dirty="0"/>
              <a:t>Что здесь происходит:</a:t>
            </a:r>
          </a:p>
          <a:p>
            <a:pPr marL="45720" indent="0">
              <a:buNone/>
            </a:pPr>
            <a:r>
              <a:rPr lang="ru-RU" sz="2400" b="1" dirty="0" err="1">
                <a:solidFill>
                  <a:srgbClr val="FF0000"/>
                </a:solidFill>
              </a:rPr>
              <a:t>range</a:t>
            </a:r>
            <a:r>
              <a:rPr lang="ru-RU" sz="2400" b="1" dirty="0">
                <a:solidFill>
                  <a:srgbClr val="FF0000"/>
                </a:solidFill>
              </a:rPr>
              <a:t>(1, 6) </a:t>
            </a:r>
            <a:r>
              <a:rPr lang="ru-RU" sz="2400" dirty="0"/>
              <a:t>— это последовательность чисел от 1 до 5 (6 не входит!),</a:t>
            </a:r>
          </a:p>
          <a:p>
            <a:pPr marL="45720" indent="0">
              <a:buNone/>
            </a:pPr>
            <a:r>
              <a:rPr lang="ru-RU" sz="2400" b="1" dirty="0">
                <a:solidFill>
                  <a:srgbClr val="FF0000"/>
                </a:solidFill>
              </a:rPr>
              <a:t>i</a:t>
            </a:r>
            <a:r>
              <a:rPr lang="ru-RU" sz="2400" dirty="0">
                <a:solidFill>
                  <a:srgbClr val="FF0000"/>
                </a:solidFill>
              </a:rPr>
              <a:t> </a:t>
            </a:r>
            <a:r>
              <a:rPr lang="ru-RU" sz="2400" dirty="0"/>
              <a:t>— это переменная, которая по очереди принимает значения из </a:t>
            </a:r>
            <a:r>
              <a:rPr lang="ru-RU" sz="2400" b="1" dirty="0" err="1"/>
              <a:t>range</a:t>
            </a:r>
            <a:r>
              <a:rPr lang="ru-RU" sz="2400" dirty="0"/>
              <a:t>,</a:t>
            </a:r>
          </a:p>
          <a:p>
            <a:pPr marL="45720" indent="0">
              <a:buNone/>
            </a:pPr>
            <a:r>
              <a:rPr lang="ru-RU" sz="2400" b="1" dirty="0" err="1">
                <a:solidFill>
                  <a:srgbClr val="FF0000"/>
                </a:solidFill>
              </a:rPr>
              <a:t>print</a:t>
            </a:r>
            <a:r>
              <a:rPr lang="ru-RU" sz="2400" b="1" dirty="0">
                <a:solidFill>
                  <a:srgbClr val="FF0000"/>
                </a:solidFill>
              </a:rPr>
              <a:t>(i) </a:t>
            </a:r>
            <a:r>
              <a:rPr lang="ru-RU" sz="2400" dirty="0"/>
              <a:t>— выводим текущее значение </a:t>
            </a:r>
            <a:r>
              <a:rPr lang="ru-RU" sz="2400" b="1" dirty="0"/>
              <a:t>i</a:t>
            </a:r>
            <a:r>
              <a:rPr lang="ru-RU" sz="2400" dirty="0"/>
              <a:t>.</a:t>
            </a:r>
          </a:p>
          <a:p>
            <a:pPr marL="45720" indent="0">
              <a:buNone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17</a:t>
            </a:fld>
            <a:endParaRPr lang="ru-RU" sz="20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0A84B4A-2C12-4B5A-BB65-12A8F7665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43" y="1164428"/>
            <a:ext cx="5072329" cy="147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0943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3" y="350260"/>
            <a:ext cx="11349314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Цикл </a:t>
            </a:r>
            <a:r>
              <a:rPr lang="en-US" sz="4400" dirty="0"/>
              <a:t>for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b="1" dirty="0" err="1">
                <a:solidFill>
                  <a:srgbClr val="FF0000"/>
                </a:solidFill>
              </a:rPr>
              <a:t>range</a:t>
            </a:r>
            <a:r>
              <a:rPr lang="ru-RU" sz="2400" b="1" dirty="0">
                <a:solidFill>
                  <a:srgbClr val="FF0000"/>
                </a:solidFill>
              </a:rPr>
              <a:t>() </a:t>
            </a:r>
            <a:r>
              <a:rPr lang="ru-RU" sz="2400" dirty="0"/>
              <a:t>–это функция, которая создаёт последовательность чисел. Мы можем использовать эту последовательность, чтобы выполнять команды в цикле </a:t>
            </a:r>
            <a:r>
              <a:rPr lang="ru-RU" sz="2400" dirty="0" err="1"/>
              <a:t>for</a:t>
            </a:r>
            <a:r>
              <a:rPr lang="ru-RU" sz="2400" dirty="0"/>
              <a:t> много раз, каждый раз с новым числом.</a:t>
            </a:r>
          </a:p>
          <a:p>
            <a:pPr marL="45720" indent="0">
              <a:buNone/>
            </a:pPr>
            <a:r>
              <a:rPr lang="ru-RU" sz="2400" dirty="0"/>
              <a:t>Синтаксис:</a:t>
            </a:r>
          </a:p>
          <a:p>
            <a:pPr marL="4572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range</a:t>
            </a:r>
            <a:r>
              <a:rPr lang="en-US" sz="2400" b="1" dirty="0"/>
              <a:t>(</a:t>
            </a:r>
            <a:r>
              <a:rPr lang="ru-RU" sz="2400" b="1" dirty="0">
                <a:solidFill>
                  <a:schemeClr val="accent5">
                    <a:lumMod val="75000"/>
                  </a:schemeClr>
                </a:solidFill>
              </a:rPr>
              <a:t>СТАРТ</a:t>
            </a:r>
            <a:r>
              <a:rPr lang="ru-RU" sz="2400" b="1" dirty="0"/>
              <a:t>, </a:t>
            </a:r>
            <a:r>
              <a:rPr lang="ru-RU" sz="2400" b="1" dirty="0">
                <a:solidFill>
                  <a:srgbClr val="7030A0"/>
                </a:solidFill>
              </a:rPr>
              <a:t>СТОП</a:t>
            </a:r>
            <a:r>
              <a:rPr lang="ru-RU" sz="2400" b="1" dirty="0"/>
              <a:t>, </a:t>
            </a:r>
            <a:r>
              <a:rPr lang="ru-RU" sz="2400" b="1" dirty="0">
                <a:solidFill>
                  <a:srgbClr val="FFC000"/>
                </a:solidFill>
              </a:rPr>
              <a:t>ШАГ</a:t>
            </a:r>
            <a:r>
              <a:rPr lang="ru-RU" sz="2400" b="1" dirty="0"/>
              <a:t>)</a:t>
            </a:r>
          </a:p>
          <a:p>
            <a:pPr marL="45720" indent="0">
              <a:buNone/>
            </a:pPr>
            <a:r>
              <a:rPr lang="ru-RU" sz="2400" dirty="0"/>
              <a:t>«</a:t>
            </a:r>
            <a:r>
              <a:rPr lang="ru-RU" sz="2400" b="1" dirty="0">
                <a:solidFill>
                  <a:srgbClr val="92D050"/>
                </a:solidFill>
              </a:rPr>
              <a:t>СТАРТ</a:t>
            </a:r>
            <a:r>
              <a:rPr lang="ru-RU" sz="2400" dirty="0"/>
              <a:t>»— с какого числа начать (по умолчанию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ru-RU" sz="2400" dirty="0"/>
              <a:t>)</a:t>
            </a:r>
          </a:p>
          <a:p>
            <a:pPr marL="45720" indent="0">
              <a:buNone/>
            </a:pPr>
            <a:r>
              <a:rPr lang="ru-RU" sz="2400" dirty="0"/>
              <a:t>«</a:t>
            </a:r>
            <a:r>
              <a:rPr lang="ru-RU" sz="2400" b="1" dirty="0">
                <a:solidFill>
                  <a:srgbClr val="7030A0"/>
                </a:solidFill>
              </a:rPr>
              <a:t>СТОП</a:t>
            </a:r>
            <a:r>
              <a:rPr lang="ru-RU" sz="2400" dirty="0"/>
              <a:t>»— до какого числа идти (не включая его!)</a:t>
            </a:r>
          </a:p>
          <a:p>
            <a:pPr marL="45720" indent="0">
              <a:buNone/>
            </a:pPr>
            <a:r>
              <a:rPr lang="ru-RU" sz="2400" dirty="0"/>
              <a:t>«</a:t>
            </a:r>
            <a:r>
              <a:rPr lang="ru-RU" sz="2400" b="1" dirty="0">
                <a:solidFill>
                  <a:srgbClr val="FFC000"/>
                </a:solidFill>
              </a:rPr>
              <a:t>ШАГ</a:t>
            </a:r>
            <a:r>
              <a:rPr lang="ru-RU" sz="2400" dirty="0"/>
              <a:t>»— на сколько увеличивать (или уменьшать) каждое следующее число (по умолчанию +1)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18</a:t>
            </a:fld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258493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3" y="350260"/>
            <a:ext cx="11349314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Цикл </a:t>
            </a:r>
            <a:r>
              <a:rPr lang="en-US" sz="4400" dirty="0"/>
              <a:t>for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/>
              <a:t>Каждое число, которое создаёт </a:t>
            </a:r>
            <a:r>
              <a:rPr lang="ru-RU" sz="2400" b="1" dirty="0" err="1">
                <a:solidFill>
                  <a:srgbClr val="FF0000"/>
                </a:solidFill>
              </a:rPr>
              <a:t>range</a:t>
            </a:r>
            <a:r>
              <a:rPr lang="ru-RU" sz="2400" b="1" dirty="0">
                <a:solidFill>
                  <a:srgbClr val="FF0000"/>
                </a:solidFill>
              </a:rPr>
              <a:t>()</a:t>
            </a:r>
            <a:r>
              <a:rPr lang="ru-RU" sz="2400" dirty="0"/>
              <a:t>, временно сохраняется в переменной (часто её называют </a:t>
            </a:r>
            <a:r>
              <a:rPr lang="ru-RU" sz="2400" b="1" dirty="0">
                <a:solidFill>
                  <a:srgbClr val="FF0000"/>
                </a:solidFill>
              </a:rPr>
              <a:t>i</a:t>
            </a:r>
            <a:r>
              <a:rPr lang="ru-RU" sz="2400" dirty="0"/>
              <a:t> или </a:t>
            </a:r>
            <a:r>
              <a:rPr lang="ru-RU" sz="2400" b="1" dirty="0" err="1">
                <a:solidFill>
                  <a:srgbClr val="FF0000"/>
                </a:solidFill>
              </a:rPr>
              <a:t>num</a:t>
            </a:r>
            <a:r>
              <a:rPr lang="ru-RU" sz="2400" dirty="0"/>
              <a:t>), и цикл </a:t>
            </a:r>
            <a:r>
              <a:rPr lang="ru-RU" sz="2400" b="1" dirty="0" err="1">
                <a:solidFill>
                  <a:srgbClr val="FF0000"/>
                </a:solidFill>
              </a:rPr>
              <a:t>for</a:t>
            </a:r>
            <a:r>
              <a:rPr lang="ru-RU" sz="2400" dirty="0"/>
              <a:t> повторяет команды для каждого такого числа.</a:t>
            </a:r>
            <a:endParaRPr lang="en-US" sz="2400" dirty="0"/>
          </a:p>
          <a:p>
            <a:pPr marL="45720" indent="0">
              <a:buNone/>
            </a:pPr>
            <a:endParaRPr lang="en-US" sz="2400" dirty="0"/>
          </a:p>
          <a:p>
            <a:pPr marL="45720" indent="0">
              <a:buNone/>
            </a:pPr>
            <a:endParaRPr lang="en-US" sz="2400" dirty="0"/>
          </a:p>
          <a:p>
            <a:pPr marL="45720" indent="0">
              <a:buNone/>
            </a:pPr>
            <a:endParaRPr lang="en-US" sz="2400" dirty="0"/>
          </a:p>
          <a:p>
            <a:pPr marL="45720" indent="0">
              <a:buNone/>
            </a:pPr>
            <a:r>
              <a:rPr lang="ru-RU" sz="2400" b="1" i="1" dirty="0"/>
              <a:t>Почему СТОП не включается?</a:t>
            </a:r>
          </a:p>
          <a:p>
            <a:pPr marL="45720" indent="0">
              <a:buNone/>
            </a:pPr>
            <a:r>
              <a:rPr lang="ru-RU" sz="2400" dirty="0"/>
              <a:t>Так устроен Python — это делается для удобства и точности. Если ты хочешь 10 повторений, ты просто пишешь </a:t>
            </a:r>
            <a:r>
              <a:rPr lang="ru-RU" sz="2400" b="1" dirty="0" err="1"/>
              <a:t>range</a:t>
            </a:r>
            <a:r>
              <a:rPr lang="ru-RU" sz="2400" b="1" dirty="0"/>
              <a:t>(10) </a:t>
            </a:r>
            <a:r>
              <a:rPr lang="ru-RU" sz="2400" dirty="0"/>
              <a:t>— и получаешь числа </a:t>
            </a:r>
            <a:r>
              <a:rPr lang="ru-RU" sz="2400" b="1" dirty="0"/>
              <a:t>от </a:t>
            </a: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ru-RU" sz="2400" b="1" dirty="0"/>
              <a:t> до 9 (всего 10 штук).</a:t>
            </a:r>
            <a:endParaRPr lang="en-US" sz="2400" b="1" dirty="0"/>
          </a:p>
          <a:p>
            <a:pPr marL="45720" indent="0">
              <a:buNone/>
            </a:pPr>
            <a:r>
              <a:rPr lang="ru-RU" sz="2400" b="1" dirty="0">
                <a:solidFill>
                  <a:srgbClr val="FF0000"/>
                </a:solidFill>
              </a:rPr>
              <a:t>В любом языке программирования отчет начинается с </a:t>
            </a:r>
            <a:r>
              <a:rPr lang="ru-R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19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39E90CF-D810-4BA9-ADCD-EC4BCEC9A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92" y="2250941"/>
            <a:ext cx="6491822" cy="155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5294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3" y="350260"/>
            <a:ext cx="11349314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Переменные в цикле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/>
              <a:t>Функция </a:t>
            </a:r>
            <a:r>
              <a:rPr lang="ru-RU" sz="2400" b="1" dirty="0" err="1">
                <a:solidFill>
                  <a:srgbClr val="FF0000"/>
                </a:solidFill>
              </a:rPr>
              <a:t>range</a:t>
            </a:r>
            <a:r>
              <a:rPr lang="ru-RU" sz="2400" b="1" dirty="0">
                <a:solidFill>
                  <a:srgbClr val="FF0000"/>
                </a:solidFill>
              </a:rPr>
              <a:t>()</a:t>
            </a:r>
            <a:r>
              <a:rPr lang="ru-RU" sz="2400" dirty="0"/>
              <a:t> не обязательно должна содержать только числа. Мы можем передавать </a:t>
            </a:r>
            <a:r>
              <a:rPr lang="ru-RU" sz="2400" b="1" dirty="0"/>
              <a:t>переменные</a:t>
            </a:r>
            <a:r>
              <a:rPr lang="ru-RU" sz="2400" dirty="0"/>
              <a:t>, которые содержат нужные значения.</a:t>
            </a:r>
            <a:endParaRPr lang="en-US" sz="2400" dirty="0"/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endParaRPr lang="en-US" sz="2400" dirty="0"/>
          </a:p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Использование переменных делает программу </a:t>
            </a:r>
            <a:r>
              <a:rPr lang="ru-RU" sz="2400" b="1" dirty="0"/>
              <a:t>более гибкой</a:t>
            </a:r>
            <a:r>
              <a:rPr lang="ru-RU" sz="2400" dirty="0"/>
              <a:t>:</a:t>
            </a:r>
          </a:p>
          <a:p>
            <a:pPr>
              <a:spcBef>
                <a:spcPts val="600"/>
              </a:spcBef>
            </a:pPr>
            <a:r>
              <a:rPr lang="ru-RU" sz="2400" dirty="0"/>
              <a:t>Мы можем заранее спросить у пользователя, сколько раз повторять цикл.</a:t>
            </a:r>
          </a:p>
          <a:p>
            <a:pPr>
              <a:spcBef>
                <a:spcPts val="600"/>
              </a:spcBef>
            </a:pPr>
            <a:r>
              <a:rPr lang="ru-RU" sz="2400" dirty="0"/>
              <a:t>Мы можем менять параметры </a:t>
            </a:r>
            <a:r>
              <a:rPr lang="ru-RU" sz="2400" dirty="0" err="1"/>
              <a:t>range</a:t>
            </a:r>
            <a:r>
              <a:rPr lang="ru-RU" sz="2400" dirty="0"/>
              <a:t>() без изменения самого цикла.</a:t>
            </a:r>
            <a:endParaRPr lang="en-US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20</a:t>
            </a:fld>
            <a:endParaRPr lang="ru-RU" sz="20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C069F54-1E26-4048-ACC3-0136E44E7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8" y="1959837"/>
            <a:ext cx="4325868" cy="146916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499A956-DC6B-4A99-91EB-9B9A1A29A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77" y="4674178"/>
            <a:ext cx="8946975" cy="162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901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8682" y="861879"/>
            <a:ext cx="8390965" cy="734472"/>
          </a:xfrm>
        </p:spPr>
        <p:txBody>
          <a:bodyPr>
            <a:normAutofit/>
          </a:bodyPr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BCA62-53A4-4FE3-87A7-0893225D0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53" y="1596351"/>
            <a:ext cx="11214847" cy="4840306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21</a:t>
            </a:fld>
            <a:endParaRPr lang="ru-RU" sz="2000" dirty="0"/>
          </a:p>
        </p:txBody>
      </p:sp>
      <p:pic>
        <p:nvPicPr>
          <p:cNvPr id="7170" name="Picture 2" descr="Изображение пина-истории">
            <a:extLst>
              <a:ext uri="{FF2B5EF4-FFF2-40B4-BE49-F238E27FC236}">
                <a16:creationId xmlns:a16="http://schemas.microsoft.com/office/drawing/2014/main" id="{5285A1E7-0011-438F-9B89-C9EE21610D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92"/>
          <a:stretch/>
        </p:blipFill>
        <p:spPr bwMode="auto">
          <a:xfrm>
            <a:off x="3469341" y="2008093"/>
            <a:ext cx="4446494" cy="3332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0348745"/>
      </p:ext>
    </p:extLst>
  </p:cSld>
  <p:clrMapOvr>
    <a:masterClrMapping/>
  </p:clrMapOvr>
</p:sld>
</file>

<file path=ppt/theme/theme1.xml><?xml version="1.0" encoding="utf-8"?>
<a:theme xmlns:a="http://schemas.openxmlformats.org/drawingml/2006/main" name="Базис">
  <a:themeElements>
    <a:clrScheme name="Синий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Базис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Базис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780</TotalTime>
  <Words>1056</Words>
  <Application>Microsoft Office PowerPoint</Application>
  <PresentationFormat>Широкоэкранный</PresentationFormat>
  <Paragraphs>163</Paragraphs>
  <Slides>21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Arial</vt:lpstr>
      <vt:lpstr>Calibri</vt:lpstr>
      <vt:lpstr>Corbel</vt:lpstr>
      <vt:lpstr>Inter</vt:lpstr>
      <vt:lpstr>Базис</vt:lpstr>
      <vt:lpstr>  Условные конструкции if-elif-else. </vt:lpstr>
      <vt:lpstr>Условные конструкции</vt:lpstr>
      <vt:lpstr>Условные конструкции</vt:lpstr>
      <vt:lpstr>Условное выражение</vt:lpstr>
      <vt:lpstr>Условное выражение</vt:lpstr>
      <vt:lpstr>Вложенные условия</vt:lpstr>
      <vt:lpstr>Условие «if» без «else»</vt:lpstr>
      <vt:lpstr>Использование логических операторов</vt:lpstr>
      <vt:lpstr>Использование логических операторов</vt:lpstr>
      <vt:lpstr>Особенности синтаксиса</vt:lpstr>
      <vt:lpstr>Расширенная структура if-elif-else</vt:lpstr>
      <vt:lpstr>Расширенная структура if-elif-else</vt:lpstr>
      <vt:lpstr>Важно понимать</vt:lpstr>
      <vt:lpstr>Когда использовать if-elif-else?</vt:lpstr>
      <vt:lpstr>  Цикл for. </vt:lpstr>
      <vt:lpstr>Что такое цикл?</vt:lpstr>
      <vt:lpstr>Цикл for</vt:lpstr>
      <vt:lpstr>Цикл for</vt:lpstr>
      <vt:lpstr>Цикл for</vt:lpstr>
      <vt:lpstr>Переменные в цикле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Home</dc:creator>
  <cp:lastModifiedBy>Эля Ахметова</cp:lastModifiedBy>
  <cp:revision>42</cp:revision>
  <dcterms:created xsi:type="dcterms:W3CDTF">2026-01-16T14:49:53Z</dcterms:created>
  <dcterms:modified xsi:type="dcterms:W3CDTF">2026-01-23T18:26:17Z</dcterms:modified>
</cp:coreProperties>
</file>